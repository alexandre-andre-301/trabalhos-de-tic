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 ao Nível Fácil. Começar! → pergunta 1 (slide 2). VOLTAR → último slide visto (só funciona quando este slide é aberto a partir de outro, por exemplo o menu de níveis).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correcta: B) A área onde os objectos visíveis são colocados
Origem: Banco de Perguntas, nível Fácil, n.º 2 (Sistemas de autor e desenvolvimento de aplicações).
Enunciado adaptado para referir a imagem.
Explicação: O palco é a área de trabalho onde se posicionam os elementos que o utilizador verá.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correcta: D) Experiência do utilizador
Origem: Banco de Perguntas, nível Fácil, n.º 19 (IA, UX e acessibilidade).
Explicação: UX significa User Experience, ou experiência do utilizador: a percepção e experiência global ao usar um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correcta: A) Uma característica editável, como cor, tamanho ou posição
Origem: Banco de Perguntas, nível Fácil, n.º 4 (Sistemas de autor e desenvolvimento de aplicações).
Enunciado adaptado para referir a imagem.
Explicação: As propriedades descrevem características do objecto e podem ser alteradas no painel de formatação.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correcta: C) Permitir que pessoas com diferentes capacidades utilizem o conteúdo e a interface
Origem: Banco de Perguntas, nível Fácil, n.º 20 (IA, UX e acessibilidade).
Explicação: A acessibilidade procura remover barreiras para pessoas com diferentes limitações e necessidades.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7" Type="http://schemas.openxmlformats.org/officeDocument/2006/relationships/slide" Target="slide1.xml"/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4.xml"/><Relationship Id="rId7" Type="http://schemas.openxmlformats.org/officeDocument/2006/relationships/slide" Target="slide3.xml"/><Relationship Id="rId9" Type="http://schemas.openxmlformats.org/officeDocument/2006/relationships/slide" Target="slide4.xml"/><Relationship Id="rId11" Type="http://schemas.openxmlformats.org/officeDocument/2006/relationships/slide" Target="slide4.xml"/><Relationship Id="rId14" Type="http://schemas.openxmlformats.org/officeDocument/2006/relationships/slide" Target="slide1.xml"/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image" Target="../media/image-2-5.png"/><Relationship Id="rId8" Type="http://schemas.openxmlformats.org/officeDocument/2006/relationships/image" Target="../media/image-2-6.png"/><Relationship Id="rId10" Type="http://schemas.openxmlformats.org/officeDocument/2006/relationships/image" Target="../media/image-2-7.png"/><Relationship Id="rId12" Type="http://schemas.openxmlformats.org/officeDocument/2006/relationships/image" Target="../media/image-2-8.png"/><Relationship Id="rId13" Type="http://schemas.openxmlformats.org/officeDocument/2006/relationships/image" Target="../media/image-2-9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" Target="slide5.xm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" Target="slide2.xml"/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7.xml"/><Relationship Id="rId7" Type="http://schemas.openxmlformats.org/officeDocument/2006/relationships/slide" Target="slide7.xml"/><Relationship Id="rId9" Type="http://schemas.openxmlformats.org/officeDocument/2006/relationships/slide" Target="slide7.xml"/><Relationship Id="rId11" Type="http://schemas.openxmlformats.org/officeDocument/2006/relationships/slide" Target="slide6.xml"/><Relationship Id="rId14" Type="http://schemas.openxmlformats.org/officeDocument/2006/relationships/slide" Target="slide1.xml"/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image" Target="../media/image-5-5.png"/><Relationship Id="rId8" Type="http://schemas.openxmlformats.org/officeDocument/2006/relationships/image" Target="../media/image-5-6.png"/><Relationship Id="rId10" Type="http://schemas.openxmlformats.org/officeDocument/2006/relationships/image" Target="../media/image-5-7.png"/><Relationship Id="rId12" Type="http://schemas.openxmlformats.org/officeDocument/2006/relationships/image" Target="../media/image-5-8.png"/><Relationship Id="rId13" Type="http://schemas.openxmlformats.org/officeDocument/2006/relationships/image" Target="../media/image-5-9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" Target="slide8.xml"/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" Target="slide5.xml"/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9.xml"/><Relationship Id="rId7" Type="http://schemas.openxmlformats.org/officeDocument/2006/relationships/slide" Target="slide10.xml"/><Relationship Id="rId9" Type="http://schemas.openxmlformats.org/officeDocument/2006/relationships/slide" Target="slide10.xml"/><Relationship Id="rId11" Type="http://schemas.openxmlformats.org/officeDocument/2006/relationships/slide" Target="slide10.xml"/><Relationship Id="rId14" Type="http://schemas.openxmlformats.org/officeDocument/2006/relationships/slide" Target="slide1.xml"/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image" Target="../media/image-8-5.png"/><Relationship Id="rId8" Type="http://schemas.openxmlformats.org/officeDocument/2006/relationships/image" Target="../media/image-8-6.png"/><Relationship Id="rId10" Type="http://schemas.openxmlformats.org/officeDocument/2006/relationships/image" Target="../media/image-8-7.png"/><Relationship Id="rId12" Type="http://schemas.openxmlformats.org/officeDocument/2006/relationships/image" Target="../media/image-8-8.png"/><Relationship Id="rId13" Type="http://schemas.openxmlformats.org/officeDocument/2006/relationships/image" Target="../media/image-8-9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" Target="slide11.xml"/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" Target="slide8.xml"/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13.xml"/><Relationship Id="rId7" Type="http://schemas.openxmlformats.org/officeDocument/2006/relationships/slide" Target="slide13.xml"/><Relationship Id="rId9" Type="http://schemas.openxmlformats.org/officeDocument/2006/relationships/slide" Target="slide12.xml"/><Relationship Id="rId11" Type="http://schemas.openxmlformats.org/officeDocument/2006/relationships/slide" Target="slide13.xml"/><Relationship Id="rId14" Type="http://schemas.openxmlformats.org/officeDocument/2006/relationships/slide" Target="slide1.xml"/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6" Type="http://schemas.openxmlformats.org/officeDocument/2006/relationships/image" Target="../media/image-11-5.png"/><Relationship Id="rId8" Type="http://schemas.openxmlformats.org/officeDocument/2006/relationships/image" Target="../media/image-11-6.png"/><Relationship Id="rId10" Type="http://schemas.openxmlformats.org/officeDocument/2006/relationships/image" Target="../media/image-11-7.png"/><Relationship Id="rId12" Type="http://schemas.openxmlformats.org/officeDocument/2006/relationships/image" Target="../media/image-11-8.png"/><Relationship Id="rId13" Type="http://schemas.openxmlformats.org/officeDocument/2006/relationships/image" Target="../media/image-11-9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" Target="slide14.xml"/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" Target="slide11.xml"/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" Target="slide1.xml"/><Relationship Id="rId9" Type="http://schemas.openxmlformats.org/officeDocument/2006/relationships/slide" Target="slide2.xml"/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7" Type="http://schemas.openxmlformats.org/officeDocument/2006/relationships/image" Target="../media/image-14-6.png"/><Relationship Id="rId8" Type="http://schemas.openxmlformats.org/officeDocument/2006/relationships/image" Target="../media/image-14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51560"/>
            <a:ext cx="7315200" cy="1417320"/>
          </a:xfrm>
          <a:custGeom>
            <a:avLst/>
            <a:gdLst/>
            <a:ahLst/>
            <a:cxnLst/>
            <a:rect l="l" t="t" r="r" b="b"/>
            <a:pathLst>
              <a:path w="7315200" h="1417320">
                <a:moveTo>
                  <a:pt x="0" y="708660"/>
                </a:moveTo>
                <a:lnTo>
                  <a:pt x="685800" y="0"/>
                </a:lnTo>
                <a:lnTo>
                  <a:pt x="6629400" y="0"/>
                </a:lnTo>
                <a:lnTo>
                  <a:pt x="7315200" y="708660"/>
                </a:lnTo>
                <a:lnTo>
                  <a:pt x="6629400" y="1417320"/>
                </a:lnTo>
                <a:lnTo>
                  <a:pt x="685800" y="1417320"/>
                </a:lnTo>
                <a:close/>
              </a:path>
            </a:pathLst>
          </a:custGeom>
          <a:solidFill>
            <a:srgbClr val="000000"/>
          </a:solidFill>
          <a:ln w="31750">
            <a:solidFill>
              <a:srgbClr val="4ADE80"/>
            </a:solidFill>
            <a:prstDash val="solid"/>
          </a:ln>
          <a:effectLst>
            <a:outerShdw sx="100000" sy="100000" kx="0" ky="0" algn="bl" rotWithShape="0" blurRad="203200" dist="50800" dir="16200000">
              <a:srgbClr val="4ADE80">
                <a:alpha val="8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36192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194560" y="105156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bem-vindo(a) ao Nível Fácil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perguntas  ·  Relembra os conceitos básicos.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834640" y="3520440"/>
            <a:ext cx="3474720" cy="685800"/>
          </a:xfrm>
          <a:custGeom>
            <a:avLst/>
            <a:gdLst/>
            <a:ahLst/>
            <a:cxnLst/>
            <a:rect l="l" t="t" r="r" b="b"/>
            <a:pathLst>
              <a:path w="3474720" h="685800">
                <a:moveTo>
                  <a:pt x="0" y="342900"/>
                </a:moveTo>
                <a:lnTo>
                  <a:pt x="320040" y="0"/>
                </a:lnTo>
                <a:lnTo>
                  <a:pt x="3154680" y="0"/>
                </a:lnTo>
                <a:lnTo>
                  <a:pt x="3474720" y="342900"/>
                </a:lnTo>
                <a:lnTo>
                  <a:pt x="3154680" y="685800"/>
                </a:lnTo>
                <a:lnTo>
                  <a:pt x="320040" y="685800"/>
                </a:lnTo>
                <a:close/>
              </a:path>
            </a:pathLst>
          </a:custGeom>
          <a:solidFill>
            <a:srgbClr val="4ADE80"/>
          </a:solidFill>
          <a:ln w="19050">
            <a:solidFill>
              <a:srgbClr val="86EFAC"/>
            </a:solidFill>
            <a:prstDash val="solid"/>
          </a:ln>
          <a:effectLst>
            <a:outerShdw sx="100000" sy="100000" kx="0" ky="0" algn="bl" rotWithShape="0" blurRad="203200" dist="50800" dir="16200000">
              <a:srgbClr val="86EFAC">
                <a:alpha val="8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2834640" y="35204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Começar!</a:t>
            </a:r>
            <a:endParaRPr lang="en-US" sz="2200" dirty="0"/>
          </a:p>
        </p:txBody>
      </p:sp>
      <p:pic>
        <p:nvPicPr>
          <p:cNvPr id="8" name="Image 1" descr="preencoded.png">
            <a:hlinkClick r:id="rId4" tooltip="Começar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3520440"/>
            <a:ext cx="3474720" cy="685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389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B1F5C"/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62272"/>
            <a:ext cx="182880" cy="182880"/>
          </a:xfrm>
          <a:prstGeom prst="rect">
            <a:avLst/>
          </a:prstGeom>
        </p:spPr>
      </p:pic>
      <p:pic>
        <p:nvPicPr>
          <p:cNvPr id="11" name="Image 3" descr="preencoded.png">
            <a:hlinkClick r:id="" tooltip="VOLTAR" action="ppaction://hlinkshowjump?jump=lastslideviewe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389120"/>
            <a:ext cx="1280160" cy="32918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886200" y="2468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62A16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468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</a:t>
            </a:r>
            <a:endParaRPr lang="en-US" sz="1300" dirty="0"/>
          </a:p>
        </p:txBody>
      </p:sp>
      <p:pic>
        <p:nvPicPr>
          <p:cNvPr id="6" name="Image 1" descr="img/facil_pal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3566160" cy="3108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51960" y="8229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a imagem. No modelo de um sistema de autor, o que representa o palco (a área a tracejado)?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251960" y="2194560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343400" y="2276856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código-fonte escondido do programa</a:t>
            </a:r>
            <a:endParaRPr lang="en-US" sz="1300" dirty="0"/>
          </a:p>
        </p:txBody>
      </p:sp>
      <p:pic>
        <p:nvPicPr>
          <p:cNvPr id="11" name="Image 2" descr="preencoded.png">
            <a:hlinkClick r:id="rId5" tooltip="Opção A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194560"/>
            <a:ext cx="443484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251960" y="2706624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343400" y="2788920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54880" y="27066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área onde os objectos visíveis são colocados</a:t>
            </a:r>
            <a:endParaRPr lang="en-US" sz="1300" dirty="0"/>
          </a:p>
        </p:txBody>
      </p:sp>
      <p:pic>
        <p:nvPicPr>
          <p:cNvPr id="15" name="Image 3" descr="preencoded.png">
            <a:hlinkClick r:id="rId7" tooltip="Opção B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2706624"/>
            <a:ext cx="443484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251960" y="3218688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343400" y="3300984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4754880" y="3218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local onde se guardam cópias de segurança</a:t>
            </a:r>
            <a:endParaRPr lang="en-US" sz="1300" dirty="0"/>
          </a:p>
        </p:txBody>
      </p:sp>
      <p:pic>
        <p:nvPicPr>
          <p:cNvPr id="19" name="Image 4" descr="preencoded.png">
            <a:hlinkClick r:id="rId9" tooltip="Opção C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960" y="3218688"/>
            <a:ext cx="4434840" cy="4572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251960" y="3730752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343400" y="3813048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4754880" y="3730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dados da aplicação</a:t>
            </a:r>
            <a:endParaRPr lang="en-US" sz="1300" dirty="0"/>
          </a:p>
        </p:txBody>
      </p:sp>
      <p:pic>
        <p:nvPicPr>
          <p:cNvPr id="23" name="Image 5" descr="preencoded.png">
            <a:hlinkClick r:id="rId11" tooltip="Opção D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1960" y="3730752"/>
            <a:ext cx="443484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77240" y="4389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B1F5C"/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462272"/>
            <a:ext cx="182880" cy="182880"/>
          </a:xfrm>
          <a:prstGeom prst="rect">
            <a:avLst/>
          </a:prstGeom>
        </p:spPr>
      </p:pic>
      <p:pic>
        <p:nvPicPr>
          <p:cNvPr id="26" name="Image 7" descr="preencoded.png">
            <a:hlinkClick r:id="rId14" tooltip="VOLTAR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480" y="4389120"/>
            <a:ext cx="1280160" cy="32918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86EFAC"/>
            </a:solidFill>
          </a:ln>
          <a:effectLst>
            <a:outerShdw sx="100000" sy="100000" kx="0" ky="0" algn="bl" rotWithShape="0" blurRad="152400" dist="50800" dir="16200000">
              <a:srgbClr val="22C55E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correcta!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0320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 área onde os objectos visíveis são colocados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palco é a área de trabalho onde se posicionam os elementos que o utilizador verá.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0E7A38">
              <a:alpha val="70000"/>
            </a:srgbClr>
          </a:solidFill>
          <a:ln w="38100">
            <a:solidFill>
              <a:srgbClr val="4ADE80"/>
            </a:solidFill>
            <a:prstDash val="solid"/>
          </a:ln>
          <a:effectLst>
            <a:outerShdw sx="100000" sy="100000" kx="0" ky="0" algn="bl" rotWithShape="0" blurRad="254000" dist="50800" dir="16200000">
              <a:srgbClr val="22C55E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828800"/>
            <a:ext cx="1005840" cy="1005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9050">
            <a:solidFill>
              <a:srgbClr val="86EFAC"/>
            </a:solidFill>
          </a:ln>
          <a:effectLst>
            <a:outerShdw sx="100000" sy="100000" kx="0" ky="0" algn="bl" rotWithShape="0" blurRad="127000" dist="50800" dir="16200000">
              <a:srgbClr val="86EFAC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Próxima pergunta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182880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CA5A5"/>
            </a:solidFill>
          </a:ln>
          <a:effectLst>
            <a:outerShdw sx="100000" sy="100000" kx="0" ky="0" algn="bl" rotWithShape="0" blurRad="152400" dist="50800" dir="16200000">
              <a:srgbClr val="EF4444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incorrecta.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2A091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correcta é a B. A área onde os objectos visíveis são colocados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palco é a área de trabalho onde se posicionam os elementos que o utilizador verá.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7A1020">
              <a:alpha val="70000"/>
            </a:srgbClr>
          </a:solidFill>
          <a:ln w="38100">
            <a:solidFill>
              <a:srgbClr val="FF6B7A"/>
            </a:solidFill>
            <a:prstDash val="solid"/>
          </a:ln>
          <a:effectLst>
            <a:outerShdw sx="100000" sy="100000" kx="0" ky="0" algn="bl" rotWithShape="0" blurRad="254000" dist="50800" dir="16200000">
              <a:srgbClr val="EF4444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783080"/>
            <a:ext cx="1097280" cy="10972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9050">
            <a:solidFill>
              <a:srgbClr val="FCA5A5"/>
            </a:solidFill>
          </a:ln>
          <a:effectLst>
            <a:outerShdw sx="100000" sy="100000" kx="0" ky="0" algn="bl" rotWithShape="0" blurRad="127000" dist="50800" dir="16200000">
              <a:srgbClr val="FCA5A5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NOVAMENTE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Tentar novamente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237744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886200" y="2468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62A16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468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8229600" cy="1143000"/>
          </a:xfrm>
          <a:prstGeom prst="roundRect">
            <a:avLst>
              <a:gd name="adj" fmla="val 12000"/>
            </a:avLst>
          </a:prstGeom>
          <a:solidFill>
            <a:srgbClr val="0B1F5C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50800" dir="16200000">
              <a:srgbClr val="22C55E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097280"/>
            <a:ext cx="594360" cy="594360"/>
          </a:xfrm>
          <a:prstGeom prst="ellipse">
            <a:avLst/>
          </a:prstGeom>
          <a:solidFill>
            <a:srgbClr val="1D4ED8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2435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86868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 UX?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57200" y="210312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2185416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universal de ficheiros</a:t>
            </a:r>
            <a:endParaRPr lang="en-US" sz="1500" dirty="0"/>
          </a:p>
        </p:txBody>
      </p:sp>
      <p:pic>
        <p:nvPicPr>
          <p:cNvPr id="13" name="Image 2" descr="preencoded.png">
            <a:hlinkClick r:id="rId5" tooltip="Opção A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03120"/>
            <a:ext cx="8229600" cy="4572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7200" y="2633472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66928" y="2715768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51560" y="2633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de unidades</a:t>
            </a:r>
            <a:endParaRPr lang="en-US" sz="1500" dirty="0"/>
          </a:p>
        </p:txBody>
      </p:sp>
      <p:pic>
        <p:nvPicPr>
          <p:cNvPr id="17" name="Image 3" descr="preencoded.png">
            <a:hlinkClick r:id="rId7" tooltip="Opção B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633472"/>
            <a:ext cx="8229600" cy="457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57200" y="3163824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66928" y="3246120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051560" y="31638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Utilização externa de XML</a:t>
            </a:r>
            <a:endParaRPr lang="en-US" sz="1500" dirty="0"/>
          </a:p>
        </p:txBody>
      </p:sp>
      <p:pic>
        <p:nvPicPr>
          <p:cNvPr id="21" name="Image 4" descr="preencoded.png">
            <a:hlinkClick r:id="rId9" tooltip="Opção C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63824"/>
            <a:ext cx="8229600" cy="4572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57200" y="3694176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66928" y="3776472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051560" y="369417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utilizador</a:t>
            </a:r>
            <a:endParaRPr lang="en-US" sz="1500" dirty="0"/>
          </a:p>
        </p:txBody>
      </p:sp>
      <p:pic>
        <p:nvPicPr>
          <p:cNvPr id="25" name="Image 5" descr="preencoded.png">
            <a:hlinkClick r:id="rId11" tooltip="Opção D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694176"/>
            <a:ext cx="82296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7240" y="4389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B1F5C"/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462272"/>
            <a:ext cx="182880" cy="182880"/>
          </a:xfrm>
          <a:prstGeom prst="rect">
            <a:avLst/>
          </a:prstGeom>
        </p:spPr>
      </p:pic>
      <p:pic>
        <p:nvPicPr>
          <p:cNvPr id="28" name="Image 7" descr="preencoded.png">
            <a:hlinkClick r:id="rId14" tooltip="VOLTAR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480" y="4389120"/>
            <a:ext cx="1280160" cy="32918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86EFAC"/>
            </a:solidFill>
          </a:ln>
          <a:effectLst>
            <a:outerShdw sx="100000" sy="100000" kx="0" ky="0" algn="bl" rotWithShape="0" blurRad="152400" dist="50800" dir="16200000">
              <a:srgbClr val="22C55E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correcta!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0320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Experiência do utilizador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significa User Experience, ou experiência do utilizador: a percepção e experiência global ao usar um produto.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0E7A38">
              <a:alpha val="70000"/>
            </a:srgbClr>
          </a:solidFill>
          <a:ln w="38100">
            <a:solidFill>
              <a:srgbClr val="4ADE80"/>
            </a:solidFill>
            <a:prstDash val="solid"/>
          </a:ln>
          <a:effectLst>
            <a:outerShdw sx="100000" sy="100000" kx="0" ky="0" algn="bl" rotWithShape="0" blurRad="254000" dist="50800" dir="16200000">
              <a:srgbClr val="22C55E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828800"/>
            <a:ext cx="1005840" cy="1005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9050">
            <a:solidFill>
              <a:srgbClr val="86EFAC"/>
            </a:solidFill>
          </a:ln>
          <a:effectLst>
            <a:outerShdw sx="100000" sy="100000" kx="0" ky="0" algn="bl" rotWithShape="0" blurRad="127000" dist="50800" dir="16200000">
              <a:srgbClr val="86EFAC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Próxima pergunta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182880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CA5A5"/>
            </a:solidFill>
          </a:ln>
          <a:effectLst>
            <a:outerShdw sx="100000" sy="100000" kx="0" ky="0" algn="bl" rotWithShape="0" blurRad="152400" dist="50800" dir="16200000">
              <a:srgbClr val="EF4444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incorrecta.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2A091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correcta é a D. Experiência do utilizador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significa User Experience, ou experiência do utilizador: a percepção e experiência global ao usar um produto.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7A1020">
              <a:alpha val="70000"/>
            </a:srgbClr>
          </a:solidFill>
          <a:ln w="38100">
            <a:solidFill>
              <a:srgbClr val="FF6B7A"/>
            </a:solidFill>
            <a:prstDash val="solid"/>
          </a:ln>
          <a:effectLst>
            <a:outerShdw sx="100000" sy="100000" kx="0" ky="0" algn="bl" rotWithShape="0" blurRad="254000" dist="50800" dir="16200000">
              <a:srgbClr val="EF4444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783080"/>
            <a:ext cx="1097280" cy="10972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9050">
            <a:solidFill>
              <a:srgbClr val="FCA5A5"/>
            </a:solidFill>
          </a:ln>
          <a:effectLst>
            <a:outerShdw sx="100000" sy="100000" kx="0" ky="0" algn="bl" rotWithShape="0" blurRad="127000" dist="50800" dir="16200000">
              <a:srgbClr val="FCA5A5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NOVAMENTE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Tentar novamente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237744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886200" y="2468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62A16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468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endParaRPr lang="en-US" sz="1300" dirty="0"/>
          </a:p>
        </p:txBody>
      </p:sp>
      <p:pic>
        <p:nvPicPr>
          <p:cNvPr id="6" name="Image 1" descr="img/facil_proprieda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3566160" cy="3108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51960" y="8229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o painel da imagem. O que é uma propriedade de um objecto?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4251960" y="2194560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343400" y="2276856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característica editável, como cor, tamanho ou posição</a:t>
            </a:r>
            <a:endParaRPr lang="en-US" sz="1300" dirty="0"/>
          </a:p>
        </p:txBody>
      </p:sp>
      <p:pic>
        <p:nvPicPr>
          <p:cNvPr id="11" name="Image 2" descr="preencoded.png">
            <a:hlinkClick r:id="rId5" tooltip="Opção A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194560"/>
            <a:ext cx="443484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251960" y="2706624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343400" y="2788920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54880" y="27066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acção executada após um clique</a:t>
            </a:r>
            <a:endParaRPr lang="en-US" sz="1300" dirty="0"/>
          </a:p>
        </p:txBody>
      </p:sp>
      <p:pic>
        <p:nvPicPr>
          <p:cNvPr id="15" name="Image 3" descr="preencoded.png">
            <a:hlinkClick r:id="rId7" tooltip="Opção B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2706624"/>
            <a:ext cx="443484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251960" y="3218688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343400" y="3300984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4754880" y="3218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utilizador registado</a:t>
            </a:r>
            <a:endParaRPr lang="en-US" sz="1300" dirty="0"/>
          </a:p>
        </p:txBody>
      </p:sp>
      <p:pic>
        <p:nvPicPr>
          <p:cNvPr id="19" name="Image 4" descr="preencoded.png">
            <a:hlinkClick r:id="rId9" tooltip="Opção C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960" y="3218688"/>
            <a:ext cx="4434840" cy="4572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251960" y="3730752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343400" y="3813048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4754880" y="3730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fase de testes</a:t>
            </a:r>
            <a:endParaRPr lang="en-US" sz="1300" dirty="0"/>
          </a:p>
        </p:txBody>
      </p:sp>
      <p:pic>
        <p:nvPicPr>
          <p:cNvPr id="23" name="Image 5" descr="preencoded.png">
            <a:hlinkClick r:id="rId11" tooltip="Opção D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1960" y="3730752"/>
            <a:ext cx="443484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77240" y="4389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B1F5C"/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462272"/>
            <a:ext cx="182880" cy="182880"/>
          </a:xfrm>
          <a:prstGeom prst="rect">
            <a:avLst/>
          </a:prstGeom>
        </p:spPr>
      </p:pic>
      <p:pic>
        <p:nvPicPr>
          <p:cNvPr id="26" name="Image 7" descr="preencoded.png">
            <a:hlinkClick r:id="rId14" tooltip="VOLTAR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480" y="4389120"/>
            <a:ext cx="1280160" cy="32918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86EFAC"/>
            </a:solidFill>
          </a:ln>
          <a:effectLst>
            <a:outerShdw sx="100000" sy="100000" kx="0" ky="0" algn="bl" rotWithShape="0" blurRad="152400" dist="50800" dir="16200000">
              <a:srgbClr val="22C55E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correcta!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0320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Uma característica editável, como cor, tamanho ou posição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propriedades descrevem características do objecto e podem ser alteradas no painel de formatação.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0E7A38">
              <a:alpha val="70000"/>
            </a:srgbClr>
          </a:solidFill>
          <a:ln w="38100">
            <a:solidFill>
              <a:srgbClr val="4ADE80"/>
            </a:solidFill>
            <a:prstDash val="solid"/>
          </a:ln>
          <a:effectLst>
            <a:outerShdw sx="100000" sy="100000" kx="0" ky="0" algn="bl" rotWithShape="0" blurRad="254000" dist="50800" dir="16200000">
              <a:srgbClr val="22C55E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828800"/>
            <a:ext cx="1005840" cy="1005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9050">
            <a:solidFill>
              <a:srgbClr val="86EFAC"/>
            </a:solidFill>
          </a:ln>
          <a:effectLst>
            <a:outerShdw sx="100000" sy="100000" kx="0" ky="0" algn="bl" rotWithShape="0" blurRad="127000" dist="50800" dir="16200000">
              <a:srgbClr val="86EFAC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Próxima pergunta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182880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CA5A5"/>
            </a:solidFill>
          </a:ln>
          <a:effectLst>
            <a:outerShdw sx="100000" sy="100000" kx="0" ky="0" algn="bl" rotWithShape="0" blurRad="152400" dist="50800" dir="16200000">
              <a:srgbClr val="EF4444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incorrecta.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2A091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correcta é a A. Uma característica editável, como cor, tamanho ou posição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propriedades descrevem características do objecto e podem ser alteradas no painel de formatação.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7A1020">
              <a:alpha val="70000"/>
            </a:srgbClr>
          </a:solidFill>
          <a:ln w="38100">
            <a:solidFill>
              <a:srgbClr val="FF6B7A"/>
            </a:solidFill>
            <a:prstDash val="solid"/>
          </a:ln>
          <a:effectLst>
            <a:outerShdw sx="100000" sy="100000" kx="0" ky="0" algn="bl" rotWithShape="0" blurRad="254000" dist="50800" dir="16200000">
              <a:srgbClr val="EF4444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783080"/>
            <a:ext cx="1097280" cy="10972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9050">
            <a:solidFill>
              <a:srgbClr val="FCA5A5"/>
            </a:solidFill>
          </a:ln>
          <a:effectLst>
            <a:outerShdw sx="100000" sy="100000" kx="0" ky="0" algn="bl" rotWithShape="0" blurRad="127000" dist="50800" dir="16200000">
              <a:srgbClr val="FCA5A5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NOVAMENTE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Tentar novamente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237744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886200" y="2468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62A16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468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8229600" cy="1143000"/>
          </a:xfrm>
          <a:prstGeom prst="roundRect">
            <a:avLst>
              <a:gd name="adj" fmla="val 12000"/>
            </a:avLst>
          </a:prstGeom>
          <a:solidFill>
            <a:srgbClr val="0B1F5C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50800" dir="16200000">
              <a:srgbClr val="22C55E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097280"/>
            <a:ext cx="594360" cy="594360"/>
          </a:xfrm>
          <a:prstGeom prst="ellipse">
            <a:avLst/>
          </a:prstGeom>
          <a:solidFill>
            <a:srgbClr val="1D4ED8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2435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86868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objectivo principal da acessibilidade?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57200" y="210312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2185416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Tornar todas as interfaces mais coloridas</a:t>
            </a:r>
            <a:endParaRPr lang="en-US" sz="1500" dirty="0"/>
          </a:p>
        </p:txBody>
      </p:sp>
      <p:pic>
        <p:nvPicPr>
          <p:cNvPr id="13" name="Image 2" descr="preencoded.png">
            <a:hlinkClick r:id="rId5" tooltip="Opção A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03120"/>
            <a:ext cx="8229600" cy="4572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7200" y="2633472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66928" y="2715768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51560" y="2633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Obrigar todos os utilizadores a usar rato</a:t>
            </a:r>
            <a:endParaRPr lang="en-US" sz="1500" dirty="0"/>
          </a:p>
        </p:txBody>
      </p:sp>
      <p:pic>
        <p:nvPicPr>
          <p:cNvPr id="17" name="Image 3" descr="preencoded.png">
            <a:hlinkClick r:id="rId7" tooltip="Opção B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633472"/>
            <a:ext cx="8229600" cy="457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57200" y="3163824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66928" y="3246120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051560" y="31638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que pessoas com diferentes capacidades utilizem o conteúdo e a interface</a:t>
            </a:r>
            <a:endParaRPr lang="en-US" sz="1500" dirty="0"/>
          </a:p>
        </p:txBody>
      </p:sp>
      <p:pic>
        <p:nvPicPr>
          <p:cNvPr id="21" name="Image 4" descr="preencoded.png">
            <a:hlinkClick r:id="rId9" tooltip="Opção C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63824"/>
            <a:ext cx="8229600" cy="4572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57200" y="3694176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66928" y="3776472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051560" y="369417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textos e imagens</a:t>
            </a:r>
            <a:endParaRPr lang="en-US" sz="1500" dirty="0"/>
          </a:p>
        </p:txBody>
      </p:sp>
      <p:pic>
        <p:nvPicPr>
          <p:cNvPr id="25" name="Image 5" descr="preencoded.png">
            <a:hlinkClick r:id="rId11" tooltip="Opção D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694176"/>
            <a:ext cx="82296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7240" y="4389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B1F5C"/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462272"/>
            <a:ext cx="182880" cy="182880"/>
          </a:xfrm>
          <a:prstGeom prst="rect">
            <a:avLst/>
          </a:prstGeom>
        </p:spPr>
      </p:pic>
      <p:pic>
        <p:nvPicPr>
          <p:cNvPr id="28" name="Image 7" descr="preencoded.png">
            <a:hlinkClick r:id="rId14" tooltip="VOLTAR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480" y="4389120"/>
            <a:ext cx="1280160" cy="32918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86EFAC"/>
            </a:solidFill>
          </a:ln>
          <a:effectLst>
            <a:outerShdw sx="100000" sy="100000" kx="0" ky="0" algn="bl" rotWithShape="0" blurRad="152400" dist="50800" dir="16200000">
              <a:srgbClr val="22C55E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correcta!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0320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Permitir que pessoas com diferentes capacidades utilizem o conteúdo e a interface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acessibilidade procura remover barreiras para pessoas com diferentes limitações e necessidades.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0E7A38">
              <a:alpha val="70000"/>
            </a:srgbClr>
          </a:solidFill>
          <a:ln w="38100">
            <a:solidFill>
              <a:srgbClr val="4ADE80"/>
            </a:solidFill>
            <a:prstDash val="solid"/>
          </a:ln>
          <a:effectLst>
            <a:outerShdw sx="100000" sy="100000" kx="0" ky="0" algn="bl" rotWithShape="0" blurRad="254000" dist="50800" dir="16200000">
              <a:srgbClr val="22C55E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828800"/>
            <a:ext cx="1005840" cy="1005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9050">
            <a:solidFill>
              <a:srgbClr val="86EFAC"/>
            </a:solidFill>
          </a:ln>
          <a:effectLst>
            <a:outerShdw sx="100000" sy="100000" kx="0" ky="0" algn="bl" rotWithShape="0" blurRad="127000" dist="50800" dir="16200000">
              <a:srgbClr val="86EFAC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Concluir nível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182880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CA5A5"/>
            </a:solidFill>
          </a:ln>
          <a:effectLst>
            <a:outerShdw sx="100000" sy="100000" kx="0" ky="0" algn="bl" rotWithShape="0" blurRad="152400" dist="50800" dir="16200000">
              <a:srgbClr val="EF4444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incorrecta.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2A091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correcta é a C. Permitir que pessoas com diferentes capacidades utilizem o conteúdo e a interface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acessibilidade procura remover barreiras para pessoas com diferentes limitações e necessidades.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7A1020">
              <a:alpha val="70000"/>
            </a:srgbClr>
          </a:solidFill>
          <a:ln w="38100">
            <a:solidFill>
              <a:srgbClr val="FF6B7A"/>
            </a:solidFill>
            <a:prstDash val="solid"/>
          </a:ln>
          <a:effectLst>
            <a:outerShdw sx="100000" sy="100000" kx="0" ky="0" algn="bl" rotWithShape="0" blurRad="254000" dist="50800" dir="16200000">
              <a:srgbClr val="EF4444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783080"/>
            <a:ext cx="1097280" cy="10972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9050">
            <a:solidFill>
              <a:srgbClr val="FCA5A5"/>
            </a:solidFill>
          </a:ln>
          <a:effectLst>
            <a:outerShdw sx="100000" sy="100000" kx="0" ky="0" algn="bl" rotWithShape="0" blurRad="127000" dist="50800" dir="16200000">
              <a:srgbClr val="FCA5A5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NOVAMENTE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Tentar novamente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237744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685800"/>
            <a:ext cx="1005840" cy="10058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63040" y="1828800"/>
            <a:ext cx="6217920" cy="1005840"/>
          </a:xfrm>
          <a:custGeom>
            <a:avLst/>
            <a:gdLst/>
            <a:ahLst/>
            <a:cxnLst/>
            <a:rect l="l" t="t" r="r" b="b"/>
            <a:pathLst>
              <a:path w="6217920" h="1005840">
                <a:moveTo>
                  <a:pt x="0" y="502920"/>
                </a:moveTo>
                <a:lnTo>
                  <a:pt x="457200" y="0"/>
                </a:lnTo>
                <a:lnTo>
                  <a:pt x="5760720" y="0"/>
                </a:lnTo>
                <a:lnTo>
                  <a:pt x="6217920" y="502920"/>
                </a:lnTo>
                <a:lnTo>
                  <a:pt x="5760720" y="1005840"/>
                </a:lnTo>
                <a:lnTo>
                  <a:pt x="457200" y="1005840"/>
                </a:lnTo>
                <a:close/>
              </a:path>
            </a:pathLst>
          </a:custGeom>
          <a:solidFill>
            <a:srgbClr val="05122E"/>
          </a:solidFill>
          <a:ln w="31750">
            <a:solidFill>
              <a:srgbClr val="4ADE80"/>
            </a:solidFill>
            <a:prstDash val="solid"/>
          </a:ln>
          <a:effectLst>
            <a:outerShdw sx="100000" sy="100000" kx="0" ky="0" algn="bl" rotWithShape="0" blurRad="203200" dist="50800" dir="16200000">
              <a:srgbClr val="4ADE80">
                <a:alpha val="85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1463040" y="182880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CONCLUÍDO!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3886200" y="30175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62A16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828800" y="3474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Completaste as 4 perguntas do nível Fácil. Cada pergunta é um passo para seres melhor!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828800" y="420624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0B1F5C"/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4334256"/>
            <a:ext cx="182880" cy="182880"/>
          </a:xfrm>
          <a:prstGeom prst="rect">
            <a:avLst/>
          </a:prstGeom>
        </p:spPr>
      </p:pic>
      <p:pic>
        <p:nvPicPr>
          <p:cNvPr id="11" name="Image 3" descr="preencoded.png">
            <a:hlinkClick r:id="rId6" tooltip="Início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206240"/>
            <a:ext cx="2286000" cy="4389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29200" y="420624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1D6BFF"/>
          </a:solidFill>
          <a:ln w="19050">
            <a:solidFill>
              <a:srgbClr val="60A5FA"/>
            </a:solidFill>
          </a:ln>
          <a:effectLst>
            <a:outerShdw sx="100000" sy="100000" kx="0" ky="0" algn="bl" rotWithShape="0" blurRad="127000" dist="50800" dir="16200000">
              <a:srgbClr val="60A5FA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NÍVEL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4334256"/>
            <a:ext cx="182880" cy="182880"/>
          </a:xfrm>
          <a:prstGeom prst="rect">
            <a:avLst/>
          </a:prstGeom>
        </p:spPr>
      </p:pic>
      <p:pic>
        <p:nvPicPr>
          <p:cNvPr id="14" name="Image 5" descr="preencoded.png">
            <a:hlinkClick r:id="rId9" tooltip="Repetir nível (pergunta 1)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4206240"/>
            <a:ext cx="2286000" cy="438912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Master – TIC – Nível Fácil</dc:title>
  <dc:subject>PptxGenJS Presentation</dc:subject>
  <dc:creator>Grupo IG12A</dc:creator>
  <cp:lastModifiedBy>Grupo IG12A</cp:lastModifiedBy>
  <cp:revision>1</cp:revision>
  <dcterms:created xsi:type="dcterms:W3CDTF">2026-09-19T07:46:18Z</dcterms:created>
  <dcterms:modified xsi:type="dcterms:W3CDTF">2026-09-19T07:46:18Z</dcterms:modified>
</cp:coreProperties>
</file>