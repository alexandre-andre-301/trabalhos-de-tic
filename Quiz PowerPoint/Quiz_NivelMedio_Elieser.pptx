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pt-A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13501B"/>
    <a:srgbClr val="FFD700"/>
    <a:srgbClr val="00008D"/>
    <a:srgbClr val="00008E"/>
    <a:srgbClr val="000064"/>
    <a:srgbClr val="B8860B"/>
    <a:srgbClr val="01C3FF"/>
    <a:srgbClr val="E1FA4C"/>
    <a:srgbClr val="FFF8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7" autoAdjust="0"/>
    <p:restoredTop sz="95201" autoAdjust="0"/>
  </p:normalViewPr>
  <p:slideViewPr>
    <p:cSldViewPr snapToGrid="0">
      <p:cViewPr>
        <p:scale>
          <a:sx n="60" d="100"/>
          <a:sy n="60" d="100"/>
        </p:scale>
        <p:origin x="168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AO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AB73B3-8DF9-4A42-8A46-B8F4104676A5}" type="datetimeFigureOut">
              <a:rPr lang="pt-AO" smtClean="0"/>
              <a:t>19/09/2026</a:t>
            </a:fld>
            <a:endParaRPr lang="pt-AO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AO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AO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AO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DE9FC2-EAA9-4071-9604-B011A81C8B79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4048615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AC9A6-36A3-C0A7-A70A-56B824022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pt-A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41F0A4-FA90-CA05-7EC1-B2D1D105C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pt-AO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D5D8AB6-4782-8D39-32A8-7BCFF3B74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2F8F-0666-4BA5-ACB7-38BF07C8846B}" type="datetimeFigureOut">
              <a:rPr lang="pt-AO" smtClean="0"/>
              <a:t>19/09/2026</a:t>
            </a:fld>
            <a:endParaRPr lang="pt-AO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B2404CF-BA28-DF12-9862-9DAF3238C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DBA1237-BA15-F7DF-A267-91305648C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32D2-8A0E-461E-BA02-259B2D3918BD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1790401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3716E-0D2E-EC20-FEC1-81BEF2BBC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AO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3316C8A-8D73-7FEA-0A76-F38C4A94F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AO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40343DB-1145-F824-A5AC-C156D7227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2F8F-0666-4BA5-ACB7-38BF07C8846B}" type="datetimeFigureOut">
              <a:rPr lang="pt-AO" smtClean="0"/>
              <a:t>19/09/2026</a:t>
            </a:fld>
            <a:endParaRPr lang="pt-AO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7D8ED37-399D-AC50-03D8-5D067A172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4D75CA8-8621-1FA4-1D7B-23F616433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32D2-8A0E-461E-BA02-259B2D3918BD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108066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5A5CA-AC3A-33A1-ACF8-6281735D1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pt-AO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3E3CFBC-20B8-7189-DE6C-B85980923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06EA08A-9A65-573D-9901-2014B6E62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2F8F-0666-4BA5-ACB7-38BF07C8846B}" type="datetimeFigureOut">
              <a:rPr lang="pt-AO" smtClean="0"/>
              <a:t>19/09/2026</a:t>
            </a:fld>
            <a:endParaRPr lang="pt-AO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B511CA8-1895-8C94-C900-EF3C82CEC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7444F30-6008-1B12-2BC1-10B0764F8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32D2-8A0E-461E-BA02-259B2D3918BD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383119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2477B7-B9DA-BE81-8589-83AB23462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AO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C7C7E65-7FA5-2277-A7BA-65D1AB8FCF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AO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1752F6C3-9886-9D8C-7497-239580494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AO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4AC3173-ED2C-6D47-19E0-90F1001BA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2F8F-0666-4BA5-ACB7-38BF07C8846B}" type="datetimeFigureOut">
              <a:rPr lang="pt-AO" smtClean="0"/>
              <a:t>19/09/2026</a:t>
            </a:fld>
            <a:endParaRPr lang="pt-AO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D34FFBF-4CC9-5524-6489-88053655F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351043D-C4B4-92F3-DB6D-9894D7458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32D2-8A0E-461E-BA02-259B2D3918BD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2358419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8AC67F-7DC5-25EC-D7A1-99941F12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pt-AO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E64EF88-A11E-7915-C6DB-6D3C25E0B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4C54EB34-ABE9-F22F-AC71-B7ADC5553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AO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E8F33088-A2D6-68A2-CAF4-4A3E3AEA8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7E2A0961-9213-D397-AEA9-C52E91320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AO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BD4AB54D-A09F-1CD9-9F1E-79CE058F5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2F8F-0666-4BA5-ACB7-38BF07C8846B}" type="datetimeFigureOut">
              <a:rPr lang="pt-AO" smtClean="0"/>
              <a:t>19/09/2026</a:t>
            </a:fld>
            <a:endParaRPr lang="pt-AO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7A088C87-C207-6BA1-E4AD-2A2813FC2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D36B7E10-A08E-E253-A90C-6FAF89099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32D2-8A0E-461E-BA02-259B2D3918BD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2956949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8D7324-BBDB-D34B-C04C-825B3D352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AO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4AF9EC12-D61D-5740-2D43-CD42235E5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2F8F-0666-4BA5-ACB7-38BF07C8846B}" type="datetimeFigureOut">
              <a:rPr lang="pt-AO" smtClean="0"/>
              <a:t>19/09/2026</a:t>
            </a:fld>
            <a:endParaRPr lang="pt-AO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5B71ACF-DFDF-E726-1552-B4CA3941C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42E99761-2786-DC14-43E2-373C92F1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32D2-8A0E-461E-BA02-259B2D3918BD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2336308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5AFAB9FF-FCE9-2D5D-0E3E-529F8C008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2F8F-0666-4BA5-ACB7-38BF07C8846B}" type="datetimeFigureOut">
              <a:rPr lang="pt-AO" smtClean="0"/>
              <a:t>19/09/2026</a:t>
            </a:fld>
            <a:endParaRPr lang="pt-AO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19B14558-C97D-9B87-379D-A5BED3FE3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6FBD30C-4199-8DD9-A9DB-C02BC4A87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32D2-8A0E-461E-BA02-259B2D3918BD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875109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74762F-C7FF-5ADB-202A-BA002454E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pt-AO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C407FE1-F92F-28CF-C552-BD6126F9D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AO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7274EDD-2468-DF70-D0A6-3B536DDAA3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8E6EC66-C608-E5A1-8F2B-5774E4EEF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2F8F-0666-4BA5-ACB7-38BF07C8846B}" type="datetimeFigureOut">
              <a:rPr lang="pt-AO" smtClean="0"/>
              <a:t>19/09/2026</a:t>
            </a:fld>
            <a:endParaRPr lang="pt-AO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2920399-1F4D-FB33-5D16-FB5AE474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78CD35C-A405-C4FA-1570-42C9BC6FB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32D2-8A0E-461E-BA02-259B2D3918BD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63040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472ED0-3D9B-3FD6-4763-3B1B01179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pt-AO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D059D41C-3EF4-7E40-CE9A-A097EDABEB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AO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CCF5F780-DED0-EE9F-9A37-49C0C877B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73491B6-E716-E221-1133-CD7937E36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2F8F-0666-4BA5-ACB7-38BF07C8846B}" type="datetimeFigureOut">
              <a:rPr lang="pt-AO" smtClean="0"/>
              <a:t>19/09/2026</a:t>
            </a:fld>
            <a:endParaRPr lang="pt-AO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FBE7BDF-0240-6C80-3CF3-8591652C2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A3FA017-F032-BF6D-A0C8-1D1AAB0A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32D2-8A0E-461E-BA02-259B2D3918BD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846580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8817F-9809-3E56-ACA8-3B419003F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AO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59BC6CA-16EF-4178-4E8C-02B238478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AO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3D1FCC8-53E6-EFC9-B32A-1E5C2E576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2F8F-0666-4BA5-ACB7-38BF07C8846B}" type="datetimeFigureOut">
              <a:rPr lang="pt-AO" smtClean="0"/>
              <a:t>19/09/2026</a:t>
            </a:fld>
            <a:endParaRPr lang="pt-AO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4A7422F-DDAC-3902-772C-2A39A4DAF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4635A9E-5187-12B2-FD54-71438F8A5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32D2-8A0E-461E-BA02-259B2D3918BD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3480427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D36A5D2-31CE-0D2A-CCB2-1224D970AB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pt-AO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798ED8A5-31D8-4A0E-FEA0-EC348114F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AO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D728226-5F5A-AC55-19E7-B5CA74C3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2F8F-0666-4BA5-ACB7-38BF07C8846B}" type="datetimeFigureOut">
              <a:rPr lang="pt-AO" smtClean="0"/>
              <a:t>19/09/2026</a:t>
            </a:fld>
            <a:endParaRPr lang="pt-AO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986BD9D-49D2-0026-AFD1-09ED2AEA2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ED8AAE5-B220-BFF1-2B32-811F7422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32D2-8A0E-461E-BA02-259B2D3918BD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2198759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008D">
                <a:lumMod val="90000"/>
                <a:lumOff val="10000"/>
              </a:srgbClr>
            </a:gs>
            <a:gs pos="95000">
              <a:schemeClr val="tx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B3D96A18-53C9-D9D0-D021-AD61499CE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pt-AO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793D802-92DA-8DB1-6758-BACC89A4E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AO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E534D05-1ED2-BB96-1539-4CB1A0B242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DA2F8F-0666-4BA5-ACB7-38BF07C8846B}" type="datetimeFigureOut">
              <a:rPr lang="pt-AO" smtClean="0"/>
              <a:t>19/09/2026</a:t>
            </a:fld>
            <a:endParaRPr lang="pt-AO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07CB4B6-8305-62FD-58D0-D34AFE0C9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AO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7053897-5962-2F52-F329-29682AB98E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732D2-8A0E-461E-BA02-259B2D3918BD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3843920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A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svg"/><Relationship Id="rId4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" Target="slide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svg"/><Relationship Id="rId4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" Target="slide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sv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Diagonais Cortados 3">
            <a:extLst>
              <a:ext uri="{FF2B5EF4-FFF2-40B4-BE49-F238E27FC236}">
                <a16:creationId xmlns:a16="http://schemas.microsoft.com/office/drawing/2014/main" id="{5E96D700-6055-E115-BEB7-7D83936CA94C}"/>
              </a:ext>
            </a:extLst>
          </p:cNvPr>
          <p:cNvSpPr/>
          <p:nvPr/>
        </p:nvSpPr>
        <p:spPr>
          <a:xfrm>
            <a:off x="2424222" y="1484207"/>
            <a:ext cx="7666075" cy="1870364"/>
          </a:xfrm>
          <a:prstGeom prst="snip2Diag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rgbClr val="FFFF00"/>
              </a:gs>
              <a:gs pos="15000">
                <a:schemeClr val="tx1"/>
              </a:gs>
            </a:gsLst>
            <a:path path="circle">
              <a:fillToRect r="100000" b="100000"/>
            </a:path>
            <a:tileRect l="-100000" t="-100000"/>
          </a:gradFill>
          <a:ln w="38100">
            <a:solidFill>
              <a:srgbClr val="FFFF00"/>
            </a:solidFill>
          </a:ln>
          <a:effectLst>
            <a:glow rad="101600">
              <a:srgbClr val="FFFF00">
                <a:alpha val="60000"/>
              </a:srgbClr>
            </a:glow>
            <a:innerShdw blurRad="241300">
              <a:srgbClr val="FFFF00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6000" b="1" noProof="0" dirty="0">
                <a:solidFill>
                  <a:srgbClr val="FFD700"/>
                </a:solidFill>
                <a:effectLst>
                  <a:outerShdw blurRad="114300" dist="50800" dir="15600000" sx="99000" sy="99000" rotWithShape="0">
                    <a:srgbClr val="FFEA00"/>
                  </a:outerShdw>
                </a:effectLst>
                <a:latin typeface="Bahnschrift Light Condensed" panose="020B0502040204020203" pitchFamily="34" charset="0"/>
              </a:rPr>
              <a:t>Nível Médio</a:t>
            </a:r>
          </a:p>
        </p:txBody>
      </p:sp>
      <p:pic>
        <p:nvPicPr>
          <p:cNvPr id="9" name="Gráfico 8" descr="Relâmpago com preenchimento sólido">
            <a:extLst>
              <a:ext uri="{FF2B5EF4-FFF2-40B4-BE49-F238E27FC236}">
                <a16:creationId xmlns:a16="http://schemas.microsoft.com/office/drawing/2014/main" id="{5890F193-0DD7-0592-EFE3-3FACB1252A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287775">
            <a:off x="3756471" y="2088256"/>
            <a:ext cx="914400" cy="811122"/>
          </a:xfrm>
          <a:prstGeom prst="rect">
            <a:avLst/>
          </a:prstGeom>
          <a:effectLst>
            <a:outerShdw blurRad="292100" dist="76200" dir="8580000" sx="75000" sy="75000" algn="ctr" rotWithShape="0">
              <a:srgbClr val="FFD700"/>
            </a:outerShdw>
          </a:effectLst>
        </p:spPr>
      </p:pic>
      <p:sp>
        <p:nvSpPr>
          <p:cNvPr id="7" name="Retângulo: Cantos Diagonais Cortados 6">
            <a:hlinkClick r:id="rId3" action="ppaction://hlinksldjump"/>
            <a:extLst>
              <a:ext uri="{FF2B5EF4-FFF2-40B4-BE49-F238E27FC236}">
                <a16:creationId xmlns:a16="http://schemas.microsoft.com/office/drawing/2014/main" id="{61FA92F4-86A8-E592-93AD-2A185653B820}"/>
              </a:ext>
            </a:extLst>
          </p:cNvPr>
          <p:cNvSpPr/>
          <p:nvPr/>
        </p:nvSpPr>
        <p:spPr>
          <a:xfrm>
            <a:off x="7232067" y="5437905"/>
            <a:ext cx="3214257" cy="623455"/>
          </a:xfrm>
          <a:prstGeom prst="snip2DiagRect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E1FA4C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  <a:ln>
            <a:solidFill>
              <a:srgbClr val="FFD700"/>
            </a:solidFill>
          </a:ln>
          <a:effectLst>
            <a:glow rad="101600">
              <a:srgbClr val="E1FA4C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600" b="1" noProof="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   Jogar!</a:t>
            </a:r>
          </a:p>
        </p:txBody>
      </p:sp>
      <p:sp>
        <p:nvSpPr>
          <p:cNvPr id="11" name="Retângulo: Cantos Diagonais Cortados 10">
            <a:hlinkClick r:id="rId4" action="ppaction://hlinksldjump"/>
            <a:extLst>
              <a:ext uri="{FF2B5EF4-FFF2-40B4-BE49-F238E27FC236}">
                <a16:creationId xmlns:a16="http://schemas.microsoft.com/office/drawing/2014/main" id="{2C392FD7-0A8E-5528-F007-1C34DCDDD679}"/>
              </a:ext>
            </a:extLst>
          </p:cNvPr>
          <p:cNvSpPr/>
          <p:nvPr/>
        </p:nvSpPr>
        <p:spPr>
          <a:xfrm>
            <a:off x="2708562" y="5437907"/>
            <a:ext cx="3214257" cy="623455"/>
          </a:xfrm>
          <a:prstGeom prst="snip2DiagRect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E1FA4C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  <a:ln>
            <a:solidFill>
              <a:srgbClr val="FFD700"/>
            </a:solidFill>
          </a:ln>
          <a:effectLst>
            <a:glow rad="101600">
              <a:srgbClr val="E1FA4C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600" b="1" noProof="0" dirty="0">
                <a:solidFill>
                  <a:schemeClr val="tx1"/>
                </a:solidFill>
                <a:latin typeface="Bahnschrift Light Condensed" panose="020B0502040204020203" pitchFamily="34" charset="0"/>
              </a:rPr>
              <a:t>   Início</a:t>
            </a:r>
          </a:p>
        </p:txBody>
      </p:sp>
      <p:pic>
        <p:nvPicPr>
          <p:cNvPr id="13" name="Gráfico 12" descr="Casa com preenchimento sólido">
            <a:hlinkClick r:id="rId4" action="ppaction://hlinksldjump"/>
            <a:extLst>
              <a:ext uri="{FF2B5EF4-FFF2-40B4-BE49-F238E27FC236}">
                <a16:creationId xmlns:a16="http://schemas.microsoft.com/office/drawing/2014/main" id="{036914B6-2F41-4D1E-F800-68920401C9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1126" y="5524497"/>
            <a:ext cx="637309" cy="450273"/>
          </a:xfrm>
          <a:prstGeom prst="rect">
            <a:avLst/>
          </a:prstGeom>
        </p:spPr>
      </p:pic>
      <p:pic>
        <p:nvPicPr>
          <p:cNvPr id="15" name="Gráfico 14" descr="Comando de jogo com preenchimento sólido">
            <a:hlinkClick r:id="rId3" action="ppaction://hlinksldjump"/>
            <a:extLst>
              <a:ext uri="{FF2B5EF4-FFF2-40B4-BE49-F238E27FC236}">
                <a16:creationId xmlns:a16="http://schemas.microsoft.com/office/drawing/2014/main" id="{5BE7872F-5C80-48C3-9DB4-A12E7E9704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69368" y="5507176"/>
            <a:ext cx="526473" cy="554184"/>
          </a:xfrm>
          <a:prstGeom prst="rect">
            <a:avLst/>
          </a:prstGeom>
        </p:spPr>
      </p:pic>
      <p:sp>
        <p:nvSpPr>
          <p:cNvPr id="3" name="Text 4">
            <a:extLst>
              <a:ext uri="{FF2B5EF4-FFF2-40B4-BE49-F238E27FC236}">
                <a16:creationId xmlns:a16="http://schemas.microsoft.com/office/drawing/2014/main" id="{2FA708C5-1B80-6132-9816-2DCD82D28565}"/>
              </a:ext>
            </a:extLst>
          </p:cNvPr>
          <p:cNvSpPr txBox="1"/>
          <p:nvPr/>
        </p:nvSpPr>
        <p:spPr>
          <a:xfrm>
            <a:off x="3200400" y="4003358"/>
            <a:ext cx="5957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AO" noProof="0" dirty="0">
                <a:solidFill>
                  <a:srgbClr val="A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as 4 perguntas do nível Médio. Cada pergunta é um passo para seres melhor!</a:t>
            </a:r>
            <a:endParaRPr lang="pt-AO" noProof="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D0FA48B-69B8-73C6-D098-75AE0EC43754}"/>
              </a:ext>
            </a:extLst>
          </p:cNvPr>
          <p:cNvSpPr/>
          <p:nvPr/>
        </p:nvSpPr>
        <p:spPr>
          <a:xfrm>
            <a:off x="2275366" y="2342593"/>
            <a:ext cx="148856" cy="148856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>
            <a:glow rad="228600">
              <a:schemeClr val="bg2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</p:spTree>
    <p:extLst>
      <p:ext uri="{BB962C8B-B14F-4D97-AF65-F5344CB8AC3E}">
        <p14:creationId xmlns:p14="http://schemas.microsoft.com/office/powerpoint/2010/main" val="327844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path" presetSubtype="0" repeatCount="indefinite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575 -0.13634 L 0.49206 -0.13634 L 0.6569 0.00579 L 0.49206 0.14653 L 0.16575 0.14653 L 0.00169 0.00579 L 0.16575 -0.13634 Z " pathEditMode="relative" rAng="0" ptsTypes="AAAAAAA">
                                      <p:cBhvr>
                                        <p:cTn id="6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54" y="14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008D">
                <a:lumMod val="90000"/>
                <a:lumOff val="10000"/>
              </a:srgbClr>
            </a:gs>
            <a:gs pos="95000">
              <a:schemeClr val="tx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F83D14-B84B-BFDA-E463-77656176A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812B97B-4FCC-4830-786D-C1A54DF143F1}"/>
              </a:ext>
            </a:extLst>
          </p:cNvPr>
          <p:cNvSpPr/>
          <p:nvPr/>
        </p:nvSpPr>
        <p:spPr>
          <a:xfrm>
            <a:off x="234461" y="1395047"/>
            <a:ext cx="11723077" cy="5146430"/>
          </a:xfrm>
          <a:prstGeom prst="roundRect">
            <a:avLst>
              <a:gd name="adj" fmla="val 3663"/>
            </a:avLst>
          </a:prstGeom>
          <a:noFill/>
          <a:ln>
            <a:solidFill>
              <a:srgbClr val="00B0F0"/>
            </a:solidFill>
          </a:ln>
          <a:effectLst>
            <a:glow rad="101600">
              <a:srgbClr val="00B0F0">
                <a:alpha val="40000"/>
              </a:srgbClr>
            </a:glow>
            <a:outerShdw blurRad="50800" dist="50800" dir="5400000" algn="ct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B26CE0FB-6EAA-FF85-AF60-F336D8188438}"/>
              </a:ext>
            </a:extLst>
          </p:cNvPr>
          <p:cNvSpPr/>
          <p:nvPr/>
        </p:nvSpPr>
        <p:spPr>
          <a:xfrm>
            <a:off x="4415425" y="339395"/>
            <a:ext cx="2520462" cy="63304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D700"/>
              </a:gs>
              <a:gs pos="92000">
                <a:schemeClr val="tx1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600" noProof="0" dirty="0">
                <a:solidFill>
                  <a:srgbClr val="FFFF00"/>
                </a:solidFill>
                <a:effectLst>
                  <a:glow rad="38100">
                    <a:srgbClr val="FFC000">
                      <a:alpha val="84000"/>
                    </a:srgbClr>
                  </a:glow>
                  <a:outerShdw blurRad="1206500" dist="127000" dir="9000000" sx="94000" sy="94000" algn="ctr" rotWithShape="0">
                    <a:srgbClr val="FFC000">
                      <a:alpha val="98000"/>
                    </a:srgbClr>
                  </a:outerShdw>
                </a:effectLst>
                <a:latin typeface="Bahnschrift Condensed" panose="020B0502040204020203" pitchFamily="34" charset="0"/>
              </a:rPr>
              <a:t>Médio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6111304-212E-D6D2-B295-BC02838C838F}"/>
              </a:ext>
            </a:extLst>
          </p:cNvPr>
          <p:cNvSpPr/>
          <p:nvPr/>
        </p:nvSpPr>
        <p:spPr>
          <a:xfrm>
            <a:off x="6365631" y="480646"/>
            <a:ext cx="363415" cy="361978"/>
          </a:xfrm>
          <a:prstGeom prst="ellipse">
            <a:avLst/>
          </a:prstGeom>
          <a:solidFill>
            <a:srgbClr val="FFD700"/>
          </a:solidFill>
          <a:ln>
            <a:solidFill>
              <a:srgbClr val="B886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F77A31DE-CEF7-E670-4C5A-DD81645A76F8}"/>
              </a:ext>
            </a:extLst>
          </p:cNvPr>
          <p:cNvSpPr/>
          <p:nvPr/>
        </p:nvSpPr>
        <p:spPr>
          <a:xfrm>
            <a:off x="428304" y="300562"/>
            <a:ext cx="3189540" cy="861477"/>
          </a:xfrm>
          <a:prstGeom prst="rect">
            <a:avLst/>
          </a:prstGeom>
          <a:gradFill flip="none" rotWithShape="1">
            <a:gsLst>
              <a:gs pos="0">
                <a:srgbClr val="00008D">
                  <a:alpha val="0"/>
                  <a:lumMod val="98000"/>
                  <a:lumOff val="2000"/>
                </a:srgbClr>
              </a:gs>
              <a:gs pos="95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8BDCF911-D4D0-FC71-C57C-F259A6753E90}"/>
              </a:ext>
            </a:extLst>
          </p:cNvPr>
          <p:cNvSpPr/>
          <p:nvPr/>
        </p:nvSpPr>
        <p:spPr>
          <a:xfrm>
            <a:off x="1524001" y="1640848"/>
            <a:ext cx="9284676" cy="763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AO" sz="2800" b="1" noProof="0" dirty="0">
                <a:effectLst>
                  <a:outerShdw blurRad="406400" dist="38100" dir="4980000" sx="99000" sy="99000" algn="tl" rotWithShape="0">
                    <a:schemeClr val="bg1">
                      <a:lumMod val="85000"/>
                    </a:schemeClr>
                  </a:outerShdw>
                </a:effectLst>
                <a:latin typeface="Bahnschrift Condensed" panose="020B0502040204020203" pitchFamily="34" charset="0"/>
              </a:rPr>
              <a:t>Por que razão uma aplicação pode ser decomposta de maneiras diferentes?</a:t>
            </a:r>
            <a:endParaRPr lang="pt-AO" sz="2800" noProof="0" dirty="0">
              <a:latin typeface="Bahnschrift Condensed" panose="020B0502040204020203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AC8B078-0FBB-8F2A-ACBF-903BA9E82431}"/>
              </a:ext>
            </a:extLst>
          </p:cNvPr>
          <p:cNvSpPr/>
          <p:nvPr/>
        </p:nvSpPr>
        <p:spPr>
          <a:xfrm>
            <a:off x="11403829" y="140979"/>
            <a:ext cx="597877" cy="62657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cxnSp>
        <p:nvCxnSpPr>
          <p:cNvPr id="31" name="Conexão reta 30">
            <a:extLst>
              <a:ext uri="{FF2B5EF4-FFF2-40B4-BE49-F238E27FC236}">
                <a16:creationId xmlns:a16="http://schemas.microsoft.com/office/drawing/2014/main" id="{2C2B14D2-4C09-8EC3-E1E8-5AEE676461BB}"/>
              </a:ext>
            </a:extLst>
          </p:cNvPr>
          <p:cNvCxnSpPr>
            <a:cxnSpLocks/>
          </p:cNvCxnSpPr>
          <p:nvPr/>
        </p:nvCxnSpPr>
        <p:spPr>
          <a:xfrm>
            <a:off x="8656042" y="590189"/>
            <a:ext cx="3516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000D27C8-0EF8-AB94-3D16-C03DF4C0839C}"/>
              </a:ext>
            </a:extLst>
          </p:cNvPr>
          <p:cNvSpPr/>
          <p:nvPr/>
        </p:nvSpPr>
        <p:spPr>
          <a:xfrm>
            <a:off x="8327796" y="426094"/>
            <a:ext cx="328246" cy="341461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glow rad="76200">
              <a:srgbClr val="FFD700">
                <a:alpha val="34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b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18F11B3-C797-AAC7-6F15-365CC1699951}"/>
              </a:ext>
            </a:extLst>
          </p:cNvPr>
          <p:cNvSpPr/>
          <p:nvPr/>
        </p:nvSpPr>
        <p:spPr>
          <a:xfrm>
            <a:off x="9007733" y="426095"/>
            <a:ext cx="303054" cy="3414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cxnSp>
        <p:nvCxnSpPr>
          <p:cNvPr id="37" name="Conexão reta 36">
            <a:extLst>
              <a:ext uri="{FF2B5EF4-FFF2-40B4-BE49-F238E27FC236}">
                <a16:creationId xmlns:a16="http://schemas.microsoft.com/office/drawing/2014/main" id="{DCC5C93A-74C0-1A51-48D5-20F0E93AB71E}"/>
              </a:ext>
            </a:extLst>
          </p:cNvPr>
          <p:cNvCxnSpPr>
            <a:cxnSpLocks/>
          </p:cNvCxnSpPr>
          <p:nvPr/>
        </p:nvCxnSpPr>
        <p:spPr>
          <a:xfrm>
            <a:off x="9310787" y="596824"/>
            <a:ext cx="3516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D78AB7E-382F-68D3-DB37-C5B553B062E2}"/>
              </a:ext>
            </a:extLst>
          </p:cNvPr>
          <p:cNvSpPr/>
          <p:nvPr/>
        </p:nvSpPr>
        <p:spPr>
          <a:xfrm>
            <a:off x="9663189" y="439522"/>
            <a:ext cx="303054" cy="3414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cxnSp>
        <p:nvCxnSpPr>
          <p:cNvPr id="40" name="Conexão reta 39">
            <a:extLst>
              <a:ext uri="{FF2B5EF4-FFF2-40B4-BE49-F238E27FC236}">
                <a16:creationId xmlns:a16="http://schemas.microsoft.com/office/drawing/2014/main" id="{70CFE100-F40B-9B04-2270-182734221020}"/>
              </a:ext>
            </a:extLst>
          </p:cNvPr>
          <p:cNvCxnSpPr>
            <a:cxnSpLocks/>
          </p:cNvCxnSpPr>
          <p:nvPr/>
        </p:nvCxnSpPr>
        <p:spPr>
          <a:xfrm>
            <a:off x="9966243" y="607494"/>
            <a:ext cx="3516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EC7CFF1B-0819-2463-97F8-6927018F2134}"/>
              </a:ext>
            </a:extLst>
          </p:cNvPr>
          <p:cNvSpPr/>
          <p:nvPr/>
        </p:nvSpPr>
        <p:spPr>
          <a:xfrm>
            <a:off x="10320432" y="426396"/>
            <a:ext cx="303054" cy="3414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pic>
        <p:nvPicPr>
          <p:cNvPr id="46" name="Gráfico 45" descr="Capelo com preenchimento sólido">
            <a:extLst>
              <a:ext uri="{FF2B5EF4-FFF2-40B4-BE49-F238E27FC236}">
                <a16:creationId xmlns:a16="http://schemas.microsoft.com/office/drawing/2014/main" id="{170DB68A-A13E-13D8-137C-818525DFA8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439" y="-28728"/>
            <a:ext cx="868378" cy="1237834"/>
          </a:xfrm>
          <a:prstGeom prst="rect">
            <a:avLst/>
          </a:prstGeom>
        </p:spPr>
      </p:pic>
      <p:sp>
        <p:nvSpPr>
          <p:cNvPr id="49" name="Retângulo B">
            <a:hlinkClick r:id="rId3" action="ppaction://hlinksldjump"/>
            <a:extLst>
              <a:ext uri="{FF2B5EF4-FFF2-40B4-BE49-F238E27FC236}">
                <a16:creationId xmlns:a16="http://schemas.microsoft.com/office/drawing/2014/main" id="{900A404D-D965-06A9-1EF9-75007A35F619}"/>
              </a:ext>
            </a:extLst>
          </p:cNvPr>
          <p:cNvSpPr/>
          <p:nvPr/>
        </p:nvSpPr>
        <p:spPr>
          <a:xfrm>
            <a:off x="875543" y="3543432"/>
            <a:ext cx="5852436" cy="626728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solidFill>
                <a:schemeClr val="tx1"/>
              </a:solidFill>
            </a:endParaRPr>
          </a:p>
        </p:txBody>
      </p:sp>
      <p:sp>
        <p:nvSpPr>
          <p:cNvPr id="51" name="Retângulo C">
            <a:hlinkClick r:id="rId4" action="ppaction://hlinksldjump"/>
            <a:extLst>
              <a:ext uri="{FF2B5EF4-FFF2-40B4-BE49-F238E27FC236}">
                <a16:creationId xmlns:a16="http://schemas.microsoft.com/office/drawing/2014/main" id="{B3508729-C864-007A-58FB-6B277E018B30}"/>
              </a:ext>
            </a:extLst>
          </p:cNvPr>
          <p:cNvSpPr/>
          <p:nvPr/>
        </p:nvSpPr>
        <p:spPr>
          <a:xfrm>
            <a:off x="875542" y="4363979"/>
            <a:ext cx="5852435" cy="626728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sp>
        <p:nvSpPr>
          <p:cNvPr id="53" name="Retângulo D">
            <a:hlinkClick r:id="rId4" action="ppaction://hlinksldjump"/>
            <a:extLst>
              <a:ext uri="{FF2B5EF4-FFF2-40B4-BE49-F238E27FC236}">
                <a16:creationId xmlns:a16="http://schemas.microsoft.com/office/drawing/2014/main" id="{136BBD73-079F-D63B-AB6A-8C4CE32B0396}"/>
              </a:ext>
            </a:extLst>
          </p:cNvPr>
          <p:cNvSpPr/>
          <p:nvPr/>
        </p:nvSpPr>
        <p:spPr>
          <a:xfrm>
            <a:off x="880299" y="5248935"/>
            <a:ext cx="5847677" cy="626728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pic>
        <p:nvPicPr>
          <p:cNvPr id="62" name="Gráfico 61" descr="Notas musicais com preenchimento sólido">
            <a:extLst>
              <a:ext uri="{FF2B5EF4-FFF2-40B4-BE49-F238E27FC236}">
                <a16:creationId xmlns:a16="http://schemas.microsoft.com/office/drawing/2014/main" id="{D133CBDB-F4EE-FE8A-5114-0FC4736538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60306" y="234462"/>
            <a:ext cx="484921" cy="422217"/>
          </a:xfrm>
          <a:prstGeom prst="rect">
            <a:avLst/>
          </a:prstGeom>
        </p:spPr>
      </p:pic>
      <p:sp>
        <p:nvSpPr>
          <p:cNvPr id="64" name="CaixaDeTexto 62">
            <a:hlinkClick r:id="rId3" action="ppaction://hlinksldjump"/>
            <a:extLst>
              <a:ext uri="{FF2B5EF4-FFF2-40B4-BE49-F238E27FC236}">
                <a16:creationId xmlns:a16="http://schemas.microsoft.com/office/drawing/2014/main" id="{9DA846BB-C802-AA62-91D5-1319CA69AE74}"/>
              </a:ext>
            </a:extLst>
          </p:cNvPr>
          <p:cNvSpPr txBox="1"/>
          <p:nvPr/>
        </p:nvSpPr>
        <p:spPr>
          <a:xfrm>
            <a:off x="1704601" y="3546154"/>
            <a:ext cx="5023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A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AO" noProof="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Porque cada abordagem serve um objectivo de análise diferente</a:t>
            </a:r>
          </a:p>
        </p:txBody>
      </p:sp>
      <p:sp>
        <p:nvSpPr>
          <p:cNvPr id="65" name="CaixaDeTexto 62">
            <a:hlinkClick r:id="rId4" action="ppaction://hlinksldjump"/>
            <a:extLst>
              <a:ext uri="{FF2B5EF4-FFF2-40B4-BE49-F238E27FC236}">
                <a16:creationId xmlns:a16="http://schemas.microsoft.com/office/drawing/2014/main" id="{9DA846BB-C802-AA62-91D5-1319CA69AE74}"/>
              </a:ext>
            </a:extLst>
          </p:cNvPr>
          <p:cNvSpPr txBox="1"/>
          <p:nvPr/>
        </p:nvSpPr>
        <p:spPr>
          <a:xfrm>
            <a:off x="1704602" y="4482303"/>
            <a:ext cx="4641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A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AO" noProof="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Porque a interface determina sempre a arquitectura</a:t>
            </a:r>
          </a:p>
        </p:txBody>
      </p:sp>
      <p:sp>
        <p:nvSpPr>
          <p:cNvPr id="66" name="CaixaDeTexto 62">
            <a:hlinkClick r:id="rId4" action="ppaction://hlinksldjump"/>
            <a:extLst>
              <a:ext uri="{FF2B5EF4-FFF2-40B4-BE49-F238E27FC236}">
                <a16:creationId xmlns:a16="http://schemas.microsoft.com/office/drawing/2014/main" id="{9DA846BB-C802-AA62-91D5-1319CA69AE74}"/>
              </a:ext>
            </a:extLst>
          </p:cNvPr>
          <p:cNvSpPr txBox="1"/>
          <p:nvPr/>
        </p:nvSpPr>
        <p:spPr>
          <a:xfrm>
            <a:off x="1695583" y="5324060"/>
            <a:ext cx="4470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A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AO" noProof="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Porque os programadores não usam modelos</a:t>
            </a:r>
          </a:p>
        </p:txBody>
      </p:sp>
      <p:sp>
        <p:nvSpPr>
          <p:cNvPr id="68" name="CaixaDeTexto 67">
            <a:hlinkClick r:id="rId4" action="ppaction://hlinksldjump"/>
            <a:extLst>
              <a:ext uri="{FF2B5EF4-FFF2-40B4-BE49-F238E27FC236}">
                <a16:creationId xmlns:a16="http://schemas.microsoft.com/office/drawing/2014/main" id="{F911B6F5-5FDB-F99E-BACA-523541F84EDF}"/>
              </a:ext>
            </a:extLst>
          </p:cNvPr>
          <p:cNvSpPr txBox="1"/>
          <p:nvPr/>
        </p:nvSpPr>
        <p:spPr>
          <a:xfrm>
            <a:off x="1700911" y="2806343"/>
            <a:ext cx="5028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AO" noProof="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Porque apenas uma decomposição é cientificamente permitida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5418F2F-D95F-4895-05EC-C13B1AC2B51B}"/>
              </a:ext>
            </a:extLst>
          </p:cNvPr>
          <p:cNvSpPr txBox="1"/>
          <p:nvPr/>
        </p:nvSpPr>
        <p:spPr>
          <a:xfrm>
            <a:off x="1252974" y="257018"/>
            <a:ext cx="2408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AO" sz="4800" b="1" noProof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Bahnschrift Condensed" panose="020B0502040204020203" pitchFamily="34" charset="0"/>
              </a:rPr>
              <a:t>Quiz </a:t>
            </a:r>
            <a:r>
              <a:rPr lang="pt-AO" sz="4800" b="1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TIC</a:t>
            </a:r>
            <a:endParaRPr lang="pt-AO" sz="4800" noProof="0" dirty="0">
              <a:latin typeface="Bahnschrift Condensed" panose="020B0502040204020203" pitchFamily="34" charset="0"/>
            </a:endParaRPr>
          </a:p>
        </p:txBody>
      </p:sp>
      <p:sp>
        <p:nvSpPr>
          <p:cNvPr id="8" name="Oval A">
            <a:hlinkClick r:id="rId4" action="ppaction://hlinksldjump"/>
            <a:extLst>
              <a:ext uri="{FF2B5EF4-FFF2-40B4-BE49-F238E27FC236}">
                <a16:creationId xmlns:a16="http://schemas.microsoft.com/office/drawing/2014/main" id="{CD6745F8-4AE6-A715-17EE-311D58E1D05C}"/>
              </a:ext>
            </a:extLst>
          </p:cNvPr>
          <p:cNvSpPr/>
          <p:nvPr/>
        </p:nvSpPr>
        <p:spPr>
          <a:xfrm>
            <a:off x="1020974" y="2723525"/>
            <a:ext cx="539263" cy="515533"/>
          </a:xfrm>
          <a:prstGeom prst="ellipse">
            <a:avLst/>
          </a:prstGeom>
          <a:solidFill>
            <a:srgbClr val="00008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200" b="1" noProof="0" dirty="0">
                <a:latin typeface="Bahnschrift Condensed" panose="020B0502040204020203" pitchFamily="34" charset="0"/>
              </a:rPr>
              <a:t>A</a:t>
            </a:r>
          </a:p>
        </p:txBody>
      </p:sp>
      <p:sp>
        <p:nvSpPr>
          <p:cNvPr id="10" name="Oval B">
            <a:hlinkClick r:id="rId3" action="ppaction://hlinksldjump"/>
            <a:extLst>
              <a:ext uri="{FF2B5EF4-FFF2-40B4-BE49-F238E27FC236}">
                <a16:creationId xmlns:a16="http://schemas.microsoft.com/office/drawing/2014/main" id="{DB80B0C1-347B-BED8-A329-568EE3A7C755}"/>
              </a:ext>
            </a:extLst>
          </p:cNvPr>
          <p:cNvSpPr/>
          <p:nvPr/>
        </p:nvSpPr>
        <p:spPr>
          <a:xfrm>
            <a:off x="1020974" y="3601688"/>
            <a:ext cx="539263" cy="515533"/>
          </a:xfrm>
          <a:prstGeom prst="ellipse">
            <a:avLst/>
          </a:prstGeom>
          <a:solidFill>
            <a:srgbClr val="00008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200" b="1" noProof="0" dirty="0">
                <a:latin typeface="Bahnschrift Condensed" panose="020B0502040204020203" pitchFamily="34" charset="0"/>
              </a:rPr>
              <a:t>B</a:t>
            </a:r>
          </a:p>
        </p:txBody>
      </p:sp>
      <p:sp>
        <p:nvSpPr>
          <p:cNvPr id="12" name="Oval C">
            <a:hlinkClick r:id="rId4" action="ppaction://hlinksldjump"/>
            <a:extLst>
              <a:ext uri="{FF2B5EF4-FFF2-40B4-BE49-F238E27FC236}">
                <a16:creationId xmlns:a16="http://schemas.microsoft.com/office/drawing/2014/main" id="{3C44C8BA-9C7C-0E67-2118-68C1357F89F6}"/>
              </a:ext>
            </a:extLst>
          </p:cNvPr>
          <p:cNvSpPr/>
          <p:nvPr/>
        </p:nvSpPr>
        <p:spPr>
          <a:xfrm>
            <a:off x="1020974" y="4419576"/>
            <a:ext cx="539263" cy="515533"/>
          </a:xfrm>
          <a:prstGeom prst="ellipse">
            <a:avLst/>
          </a:prstGeom>
          <a:solidFill>
            <a:srgbClr val="00008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200" b="1" noProof="0" dirty="0">
                <a:latin typeface="Bahnschrift Condensed" panose="020B0502040204020203" pitchFamily="34" charset="0"/>
              </a:rPr>
              <a:t>C</a:t>
            </a:r>
          </a:p>
        </p:txBody>
      </p:sp>
      <p:sp>
        <p:nvSpPr>
          <p:cNvPr id="14" name="Oval D">
            <a:hlinkClick r:id="rId4" action="ppaction://hlinksldjump"/>
            <a:extLst>
              <a:ext uri="{FF2B5EF4-FFF2-40B4-BE49-F238E27FC236}">
                <a16:creationId xmlns:a16="http://schemas.microsoft.com/office/drawing/2014/main" id="{E36853E4-7C16-214B-50DE-C24800CAA970}"/>
              </a:ext>
            </a:extLst>
          </p:cNvPr>
          <p:cNvSpPr/>
          <p:nvPr/>
        </p:nvSpPr>
        <p:spPr>
          <a:xfrm>
            <a:off x="1042240" y="5303513"/>
            <a:ext cx="539263" cy="515533"/>
          </a:xfrm>
          <a:prstGeom prst="ellipse">
            <a:avLst/>
          </a:prstGeom>
          <a:solidFill>
            <a:srgbClr val="00008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200" b="1" noProof="0" dirty="0">
                <a:latin typeface="Bahnschrift Condensed" panose="020B0502040204020203" pitchFamily="34" charset="0"/>
              </a:rPr>
              <a:t>D</a:t>
            </a:r>
          </a:p>
        </p:txBody>
      </p:sp>
      <p:sp>
        <p:nvSpPr>
          <p:cNvPr id="47" name="Retângulo A">
            <a:hlinkClick r:id="rId4" action="ppaction://hlinksldjump"/>
            <a:extLst>
              <a:ext uri="{FF2B5EF4-FFF2-40B4-BE49-F238E27FC236}">
                <a16:creationId xmlns:a16="http://schemas.microsoft.com/office/drawing/2014/main" id="{71EF2995-D221-90F6-35EB-5DCAC9F8A7C1}"/>
              </a:ext>
            </a:extLst>
          </p:cNvPr>
          <p:cNvSpPr/>
          <p:nvPr/>
        </p:nvSpPr>
        <p:spPr>
          <a:xfrm>
            <a:off x="876608" y="2667928"/>
            <a:ext cx="5852437" cy="626728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AO" b="1" noProof="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    </a:t>
            </a:r>
          </a:p>
          <a:p>
            <a:r>
              <a:rPr lang="pt-AO" b="1" noProof="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      </a:t>
            </a:r>
            <a:endParaRPr lang="pt-AO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562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3501B"/>
            </a:gs>
            <a:gs pos="100000">
              <a:schemeClr val="tx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7E4B6-E69A-EC23-12E7-0CF978225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FAA1BECB-0945-7A95-25BB-525E989B1AB3}"/>
              </a:ext>
            </a:extLst>
          </p:cNvPr>
          <p:cNvSpPr/>
          <p:nvPr/>
        </p:nvSpPr>
        <p:spPr>
          <a:xfrm>
            <a:off x="472247" y="241777"/>
            <a:ext cx="3189540" cy="8614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95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latin typeface="Bahnschrift Condensed" panose="020B0502040204020203" pitchFamily="34" charset="0"/>
            </a:endParaRPr>
          </a:p>
        </p:txBody>
      </p:sp>
      <p:pic>
        <p:nvPicPr>
          <p:cNvPr id="46" name="Gráfico 45" descr="Capelo com preenchimento sólido">
            <a:extLst>
              <a:ext uri="{FF2B5EF4-FFF2-40B4-BE49-F238E27FC236}">
                <a16:creationId xmlns:a16="http://schemas.microsoft.com/office/drawing/2014/main" id="{1DACAF79-17C6-5BB7-14CB-726BB67BF0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439" y="-28728"/>
            <a:ext cx="868378" cy="123783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AEE6760-464B-E439-4739-0619AA920EB3}"/>
              </a:ext>
            </a:extLst>
          </p:cNvPr>
          <p:cNvSpPr txBox="1"/>
          <p:nvPr/>
        </p:nvSpPr>
        <p:spPr>
          <a:xfrm>
            <a:off x="1252974" y="257018"/>
            <a:ext cx="2408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AO" sz="4800" b="1" noProof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Bahnschrift Condensed" panose="020B0502040204020203" pitchFamily="34" charset="0"/>
              </a:rPr>
              <a:t>Quiz </a:t>
            </a:r>
            <a:r>
              <a:rPr lang="pt-AO" sz="4800" b="1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TIC</a:t>
            </a:r>
            <a:endParaRPr lang="pt-AO" sz="4800" noProof="0" dirty="0">
              <a:latin typeface="Bahnschrift Condensed" panose="020B0502040204020203" pitchFamily="34" charset="0"/>
            </a:endParaRPr>
          </a:p>
        </p:txBody>
      </p:sp>
      <p:cxnSp>
        <p:nvCxnSpPr>
          <p:cNvPr id="3" name="Conexão reta 2">
            <a:extLst>
              <a:ext uri="{FF2B5EF4-FFF2-40B4-BE49-F238E27FC236}">
                <a16:creationId xmlns:a16="http://schemas.microsoft.com/office/drawing/2014/main" id="{7A34B75A-E7ED-2ED2-A7C7-7B1DFBFFF33E}"/>
              </a:ext>
            </a:extLst>
          </p:cNvPr>
          <p:cNvCxnSpPr/>
          <p:nvPr/>
        </p:nvCxnSpPr>
        <p:spPr>
          <a:xfrm>
            <a:off x="360814" y="1510145"/>
            <a:ext cx="11470371" cy="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1">
            <a:extLst>
              <a:ext uri="{FF2B5EF4-FFF2-40B4-BE49-F238E27FC236}">
                <a16:creationId xmlns:a16="http://schemas.microsoft.com/office/drawing/2014/main" id="{54D25188-B923-B6AD-DECB-96EF0A2AA7C7}"/>
              </a:ext>
            </a:extLst>
          </p:cNvPr>
          <p:cNvSpPr/>
          <p:nvPr/>
        </p:nvSpPr>
        <p:spPr>
          <a:xfrm>
            <a:off x="559439" y="1811185"/>
            <a:ext cx="1241652" cy="1101437"/>
          </a:xfrm>
          <a:prstGeom prst="ellipse">
            <a:avLst/>
          </a:prstGeom>
          <a:solidFill>
            <a:srgbClr val="22C55E"/>
          </a:solidFill>
          <a:ln w="25400">
            <a:solidFill>
              <a:srgbClr val="86EFAC"/>
            </a:solidFill>
          </a:ln>
          <a:effectLst>
            <a:outerShdw blurRad="152400" dist="50800" dir="16200000" algn="bl" rotWithShape="0">
              <a:srgbClr val="22C55E">
                <a:alpha val="8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pt-AO" noProof="0" dirty="0">
              <a:latin typeface="Bahnschrift Condensed" panose="020B0502040204020203" pitchFamily="34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289C3925-B32D-E469-4D1F-4A0611EB32C7}"/>
              </a:ext>
            </a:extLst>
          </p:cNvPr>
          <p:cNvSpPr/>
          <p:nvPr/>
        </p:nvSpPr>
        <p:spPr>
          <a:xfrm>
            <a:off x="532017" y="3240578"/>
            <a:ext cx="6949440" cy="2133600"/>
          </a:xfrm>
          <a:prstGeom prst="roundRect">
            <a:avLst>
              <a:gd name="adj" fmla="val 6857"/>
            </a:avLst>
          </a:prstGeom>
          <a:solidFill>
            <a:srgbClr val="03200F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AO" noProof="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119AA0C-90DE-2C7F-AA99-D84B24267CC7}"/>
              </a:ext>
            </a:extLst>
          </p:cNvPr>
          <p:cNvSpPr txBox="1"/>
          <p:nvPr/>
        </p:nvSpPr>
        <p:spPr>
          <a:xfrm>
            <a:off x="864354" y="3332018"/>
            <a:ext cx="6339840" cy="19507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</a:pPr>
            <a:r>
              <a:rPr lang="pt-AO" sz="2800" b="1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B) </a:t>
            </a:r>
            <a:r>
              <a:rPr lang="pt-AO" sz="24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Porque cada abordagem serve um objectivo de análise diferente</a:t>
            </a:r>
          </a:p>
          <a:p>
            <a:pPr>
              <a:spcAft>
                <a:spcPts val="800"/>
              </a:spcAft>
            </a:pPr>
            <a:r>
              <a:rPr lang="pt-AO" noProof="0" dirty="0">
                <a:latin typeface="Bahnschrift Condensed" panose="020B0502040204020203" pitchFamily="34" charset="0"/>
              </a:rPr>
              <a:t>:</a:t>
            </a:r>
            <a:r>
              <a:rPr lang="pt-AO" sz="20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Camadas, MVC, elementos da experiência e perspectiva de autoria respondem a necessidades diferentes.</a:t>
            </a:r>
            <a:endParaRPr lang="pt-AO" sz="1933" noProof="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2FCB74EA-89F4-9ABF-C78E-24C1D99F4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533" y="2074272"/>
            <a:ext cx="563463" cy="575262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7D1F299D-CB70-D335-355C-4998509A6F14}"/>
              </a:ext>
            </a:extLst>
          </p:cNvPr>
          <p:cNvSpPr txBox="1"/>
          <p:nvPr/>
        </p:nvSpPr>
        <p:spPr>
          <a:xfrm>
            <a:off x="2106006" y="1728057"/>
            <a:ext cx="3726758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AO" sz="4533" b="1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PARABÉNS!</a:t>
            </a:r>
            <a:endParaRPr lang="pt-AO" sz="4533" noProof="0" dirty="0">
              <a:latin typeface="Bahnschrift Condensed" panose="020B0502040204020203" pitchFamily="34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E2D0F440-681F-ED55-5C62-656E7E49D7A7}"/>
              </a:ext>
            </a:extLst>
          </p:cNvPr>
          <p:cNvSpPr txBox="1"/>
          <p:nvPr/>
        </p:nvSpPr>
        <p:spPr>
          <a:xfrm>
            <a:off x="2130832" y="2424942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AO" sz="2400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Resposta correcta!</a:t>
            </a:r>
            <a:endParaRPr lang="pt-AO" sz="2400" noProof="0" dirty="0">
              <a:latin typeface="Bahnschrift Condensed" panose="020B0502040204020203" pitchFamily="34" charset="0"/>
            </a:endParaRPr>
          </a:p>
        </p:txBody>
      </p:sp>
      <p:sp>
        <p:nvSpPr>
          <p:cNvPr id="23" name="Text 7">
            <a:hlinkClick r:id="rId4" action="ppaction://hlinksldjump"/>
            <a:extLst>
              <a:ext uri="{FF2B5EF4-FFF2-40B4-BE49-F238E27FC236}">
                <a16:creationId xmlns:a16="http://schemas.microsoft.com/office/drawing/2014/main" id="{967B554C-6EAB-6566-0249-C05206031AD0}"/>
              </a:ext>
            </a:extLst>
          </p:cNvPr>
          <p:cNvSpPr/>
          <p:nvPr/>
        </p:nvSpPr>
        <p:spPr>
          <a:xfrm>
            <a:off x="864354" y="5911339"/>
            <a:ext cx="2438400" cy="6096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9050">
            <a:solidFill>
              <a:srgbClr val="86EFAC"/>
            </a:solidFill>
          </a:ln>
          <a:effectLst>
            <a:outerShdw blurRad="127000" dist="50800" dir="16200000" algn="bl" rotWithShape="0">
              <a:srgbClr val="86EFAC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pt-AO" sz="1867" b="1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pt-AO" sz="1867" noProof="0" dirty="0">
              <a:latin typeface="Bahnschrift Condensed" panose="020B0502040204020203" pitchFamily="34" charset="0"/>
            </a:endParaRPr>
          </a:p>
        </p:txBody>
      </p:sp>
      <p:pic>
        <p:nvPicPr>
          <p:cNvPr id="32" name="Image 3" descr="preencoded.png">
            <a:hlinkClick r:id="rId4" action="ppaction://hlinksldjump"/>
            <a:extLst>
              <a:ext uri="{FF2B5EF4-FFF2-40B4-BE49-F238E27FC236}">
                <a16:creationId xmlns:a16="http://schemas.microsoft.com/office/drawing/2014/main" id="{34AFBAC0-2D5B-F2CA-8F38-79E575A5B3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974" y="6094219"/>
            <a:ext cx="243840" cy="243840"/>
          </a:xfrm>
          <a:prstGeom prst="rect">
            <a:avLst/>
          </a:prstGeom>
        </p:spPr>
      </p:pic>
      <p:sp>
        <p:nvSpPr>
          <p:cNvPr id="34" name="Retângulo 33">
            <a:extLst>
              <a:ext uri="{FF2B5EF4-FFF2-40B4-BE49-F238E27FC236}">
                <a16:creationId xmlns:a16="http://schemas.microsoft.com/office/drawing/2014/main" id="{F15B2172-0FEC-3DBE-85A5-003B8E6D3F31}"/>
              </a:ext>
            </a:extLst>
          </p:cNvPr>
          <p:cNvSpPr/>
          <p:nvPr/>
        </p:nvSpPr>
        <p:spPr>
          <a:xfrm>
            <a:off x="7811198" y="2611438"/>
            <a:ext cx="4010634" cy="3299901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  <a:scene3d>
            <a:camera prst="obliqueTopRigh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35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95000">
              <a:schemeClr val="tx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FEF99-9C48-79CB-B9AE-7BB919269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C88AE692-8B4D-3580-B03D-D3FA9DF102F5}"/>
              </a:ext>
            </a:extLst>
          </p:cNvPr>
          <p:cNvSpPr/>
          <p:nvPr/>
        </p:nvSpPr>
        <p:spPr>
          <a:xfrm>
            <a:off x="472247" y="241777"/>
            <a:ext cx="3189540" cy="861477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95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latin typeface="Bahnschrift Condensed" panose="020B0502040204020203" pitchFamily="34" charset="0"/>
            </a:endParaRPr>
          </a:p>
        </p:txBody>
      </p:sp>
      <p:pic>
        <p:nvPicPr>
          <p:cNvPr id="46" name="Gráfico 45" descr="Capelo com preenchimento sólido">
            <a:extLst>
              <a:ext uri="{FF2B5EF4-FFF2-40B4-BE49-F238E27FC236}">
                <a16:creationId xmlns:a16="http://schemas.microsoft.com/office/drawing/2014/main" id="{AA3F29CE-1168-4368-8EA2-DF1A9BB3F7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439" y="-28728"/>
            <a:ext cx="868378" cy="123783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8952203-2AAB-D1F7-F786-BA99C87B7D3D}"/>
              </a:ext>
            </a:extLst>
          </p:cNvPr>
          <p:cNvSpPr txBox="1"/>
          <p:nvPr/>
        </p:nvSpPr>
        <p:spPr>
          <a:xfrm>
            <a:off x="1252974" y="257018"/>
            <a:ext cx="2408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AO" sz="4800" b="1" noProof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Bahnschrift Condensed" panose="020B0502040204020203" pitchFamily="34" charset="0"/>
              </a:rPr>
              <a:t>Quiz </a:t>
            </a:r>
            <a:r>
              <a:rPr lang="pt-AO" sz="4800" b="1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TIC</a:t>
            </a:r>
            <a:endParaRPr lang="pt-AO" sz="4800" noProof="0" dirty="0">
              <a:latin typeface="Bahnschrift Condensed" panose="020B0502040204020203" pitchFamily="34" charset="0"/>
            </a:endParaRPr>
          </a:p>
        </p:txBody>
      </p:sp>
      <p:cxnSp>
        <p:nvCxnSpPr>
          <p:cNvPr id="3" name="Conexão reta 2">
            <a:extLst>
              <a:ext uri="{FF2B5EF4-FFF2-40B4-BE49-F238E27FC236}">
                <a16:creationId xmlns:a16="http://schemas.microsoft.com/office/drawing/2014/main" id="{CA69D001-7A5E-17F2-E5AA-4B3AA3B0D456}"/>
              </a:ext>
            </a:extLst>
          </p:cNvPr>
          <p:cNvCxnSpPr/>
          <p:nvPr/>
        </p:nvCxnSpPr>
        <p:spPr>
          <a:xfrm>
            <a:off x="360814" y="1510145"/>
            <a:ext cx="11470371" cy="0"/>
          </a:xfrm>
          <a:prstGeom prst="line">
            <a:avLst/>
          </a:prstGeom>
          <a:ln w="25400">
            <a:solidFill>
              <a:srgbClr val="C00000"/>
            </a:solidFill>
          </a:ln>
          <a:effectLst>
            <a:glow rad="63500">
              <a:srgbClr val="C00000">
                <a:alpha val="4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1">
            <a:extLst>
              <a:ext uri="{FF2B5EF4-FFF2-40B4-BE49-F238E27FC236}">
                <a16:creationId xmlns:a16="http://schemas.microsoft.com/office/drawing/2014/main" id="{E80B6A12-602E-B085-695C-6A434FAABC27}"/>
              </a:ext>
            </a:extLst>
          </p:cNvPr>
          <p:cNvSpPr/>
          <p:nvPr/>
        </p:nvSpPr>
        <p:spPr>
          <a:xfrm>
            <a:off x="559439" y="1811185"/>
            <a:ext cx="1241652" cy="1101437"/>
          </a:xfrm>
          <a:prstGeom prst="ellipse">
            <a:avLst/>
          </a:prstGeom>
          <a:solidFill>
            <a:srgbClr val="C00000"/>
          </a:solidFill>
          <a:ln w="22225">
            <a:solidFill>
              <a:schemeClr val="bg1"/>
            </a:solidFill>
          </a:ln>
          <a:effectLst>
            <a:outerShdw blurRad="152400" dist="50800" dir="16200000" algn="bl" rotWithShape="0">
              <a:srgbClr val="C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pt-AO" noProof="0" dirty="0">
              <a:latin typeface="Bahnschrift Condensed" panose="020B0502040204020203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40F09ED-97E2-B76D-C0DD-A537115C51E6}"/>
              </a:ext>
            </a:extLst>
          </p:cNvPr>
          <p:cNvSpPr txBox="1"/>
          <p:nvPr/>
        </p:nvSpPr>
        <p:spPr>
          <a:xfrm>
            <a:off x="847817" y="3346419"/>
            <a:ext cx="6339840" cy="19507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</a:pPr>
            <a:r>
              <a:rPr lang="pt-AO" sz="2800" b="1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B) </a:t>
            </a:r>
            <a:r>
              <a:rPr lang="pt-AO" sz="24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Porque cada abordagem serve um objectivo de análise diferente</a:t>
            </a:r>
          </a:p>
          <a:p>
            <a:pPr>
              <a:spcAft>
                <a:spcPts val="800"/>
              </a:spcAft>
            </a:pPr>
            <a:r>
              <a:rPr lang="pt-AO" noProof="0" dirty="0">
                <a:latin typeface="Bahnschrift Condensed" panose="020B0502040204020203" pitchFamily="34" charset="0"/>
              </a:rPr>
              <a:t>:</a:t>
            </a:r>
            <a:r>
              <a:rPr lang="pt-AO" sz="20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Camadas, MVC, elementos da experiência e perspectiva de autoria respondem a necessidades diferentes.</a:t>
            </a:r>
            <a:endParaRPr lang="pt-AO" sz="1933" noProof="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23" name="Text 7">
            <a:hlinkClick r:id="rId3" action="ppaction://hlinksldjump"/>
            <a:extLst>
              <a:ext uri="{FF2B5EF4-FFF2-40B4-BE49-F238E27FC236}">
                <a16:creationId xmlns:a16="http://schemas.microsoft.com/office/drawing/2014/main" id="{D591A7C1-E3FD-6613-588E-A8E0CC8864EA}"/>
              </a:ext>
            </a:extLst>
          </p:cNvPr>
          <p:cNvSpPr/>
          <p:nvPr/>
        </p:nvSpPr>
        <p:spPr>
          <a:xfrm>
            <a:off x="847817" y="5827015"/>
            <a:ext cx="2438400" cy="6096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19050">
            <a:solidFill>
              <a:schemeClr val="bg2"/>
            </a:solidFill>
          </a:ln>
          <a:effectLst>
            <a:outerShdw blurRad="127000" dist="50800" dir="16200000" algn="bl" rotWithShape="0">
              <a:srgbClr val="C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pt-AO" sz="1867" b="1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pt-AO" sz="1867" noProof="0" dirty="0">
              <a:latin typeface="Bahnschrift Condensed" panose="020B0502040204020203" pitchFamily="34" charset="0"/>
            </a:endParaRPr>
          </a:p>
        </p:txBody>
      </p:sp>
      <p:pic>
        <p:nvPicPr>
          <p:cNvPr id="32" name="Image 3" descr="preencoded.png">
            <a:hlinkClick r:id="rId3" action="ppaction://hlinksldjump"/>
            <a:extLst>
              <a:ext uri="{FF2B5EF4-FFF2-40B4-BE49-F238E27FC236}">
                <a16:creationId xmlns:a16="http://schemas.microsoft.com/office/drawing/2014/main" id="{D8CA7D3D-986F-EC75-8641-075233E60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897" y="6009895"/>
            <a:ext cx="243840" cy="243840"/>
          </a:xfrm>
          <a:prstGeom prst="rect">
            <a:avLst/>
          </a:prstGeom>
        </p:spPr>
      </p:pic>
      <p:sp>
        <p:nvSpPr>
          <p:cNvPr id="34" name="Retângulo 33">
            <a:extLst>
              <a:ext uri="{FF2B5EF4-FFF2-40B4-BE49-F238E27FC236}">
                <a16:creationId xmlns:a16="http://schemas.microsoft.com/office/drawing/2014/main" id="{49B0FE8C-75B6-F3C3-F821-D23B60B7F268}"/>
              </a:ext>
            </a:extLst>
          </p:cNvPr>
          <p:cNvSpPr/>
          <p:nvPr/>
        </p:nvSpPr>
        <p:spPr>
          <a:xfrm>
            <a:off x="7811198" y="2611438"/>
            <a:ext cx="4010634" cy="3299901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glow rad="63500">
              <a:srgbClr val="C00000">
                <a:alpha val="40000"/>
              </a:srgbClr>
            </a:glow>
          </a:effectLst>
          <a:scene3d>
            <a:camera prst="obliqueTopRigh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latin typeface="Bahnschrift Condensed" panose="020B0502040204020203" pitchFamily="34" charset="0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ACA03BB-F16B-4DB0-81F1-440E26346E29}"/>
              </a:ext>
            </a:extLst>
          </p:cNvPr>
          <p:cNvSpPr/>
          <p:nvPr/>
        </p:nvSpPr>
        <p:spPr>
          <a:xfrm>
            <a:off x="554697" y="3274028"/>
            <a:ext cx="6926080" cy="2144617"/>
          </a:xfrm>
          <a:prstGeom prst="roundRect">
            <a:avLst>
              <a:gd name="adj" fmla="val 6857"/>
            </a:avLst>
          </a:prstGeom>
          <a:solidFill>
            <a:srgbClr val="2A0910">
              <a:alpha val="14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AO" noProof="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B95B4BBF-EC77-3250-93B2-EFA5FD34AF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246" y="2047803"/>
            <a:ext cx="690038" cy="576450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FBFF4C0F-5530-D08B-EB0D-238151D7DF3F}"/>
              </a:ext>
            </a:extLst>
          </p:cNvPr>
          <p:cNvSpPr txBox="1"/>
          <p:nvPr/>
        </p:nvSpPr>
        <p:spPr>
          <a:xfrm>
            <a:off x="2130832" y="1811185"/>
            <a:ext cx="33971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AO" sz="4400" b="1" noProof="0" dirty="0">
                <a:solidFill>
                  <a:srgbClr val="FF5A5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OPS!</a:t>
            </a:r>
            <a:endParaRPr lang="pt-AO" sz="4400" noProof="0" dirty="0">
              <a:latin typeface="Bahnschrift Condensed" panose="020B0502040204020203" pitchFamily="34" charset="0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56A3DDB5-8528-0CBD-A9B3-D73657F954B6}"/>
              </a:ext>
            </a:extLst>
          </p:cNvPr>
          <p:cNvSpPr txBox="1"/>
          <p:nvPr/>
        </p:nvSpPr>
        <p:spPr>
          <a:xfrm>
            <a:off x="2130832" y="2378629"/>
            <a:ext cx="4114800" cy="460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AO" sz="2400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Resposta incorrecta.</a:t>
            </a:r>
            <a:endParaRPr lang="pt-AO" sz="2400" noProof="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672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93839-7DF6-9C31-9DBE-88797E4C0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0B97EBB-04C2-8BA5-0689-77BF75D04A05}"/>
              </a:ext>
            </a:extLst>
          </p:cNvPr>
          <p:cNvSpPr/>
          <p:nvPr/>
        </p:nvSpPr>
        <p:spPr>
          <a:xfrm>
            <a:off x="234461" y="1395047"/>
            <a:ext cx="11723077" cy="5146430"/>
          </a:xfrm>
          <a:prstGeom prst="roundRect">
            <a:avLst>
              <a:gd name="adj" fmla="val 3663"/>
            </a:avLst>
          </a:prstGeom>
          <a:noFill/>
          <a:ln>
            <a:solidFill>
              <a:srgbClr val="00B0F0"/>
            </a:solidFill>
          </a:ln>
          <a:effectLst>
            <a:glow rad="101600">
              <a:srgbClr val="00B0F0">
                <a:alpha val="40000"/>
              </a:srgbClr>
            </a:glow>
            <a:outerShdw blurRad="50800" dist="50800" dir="5400000" algn="ct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46385E7B-D6D2-A6D3-20A7-AC1623352403}"/>
              </a:ext>
            </a:extLst>
          </p:cNvPr>
          <p:cNvSpPr/>
          <p:nvPr/>
        </p:nvSpPr>
        <p:spPr>
          <a:xfrm>
            <a:off x="4415425" y="339395"/>
            <a:ext cx="2520462" cy="63304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D700"/>
              </a:gs>
              <a:gs pos="92000">
                <a:schemeClr val="tx1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600" noProof="0" dirty="0">
                <a:solidFill>
                  <a:srgbClr val="FFFF00"/>
                </a:solidFill>
                <a:effectLst>
                  <a:glow rad="38100">
                    <a:srgbClr val="FFC000">
                      <a:alpha val="84000"/>
                    </a:srgbClr>
                  </a:glow>
                  <a:outerShdw blurRad="1206500" dist="127000" dir="9000000" sx="94000" sy="94000" algn="ctr" rotWithShape="0">
                    <a:srgbClr val="FFC000">
                      <a:alpha val="98000"/>
                    </a:srgbClr>
                  </a:outerShdw>
                </a:effectLst>
                <a:latin typeface="Bahnschrift Condensed" panose="020B0502040204020203" pitchFamily="34" charset="0"/>
              </a:rPr>
              <a:t>Médio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3C53A7B-68D9-B2FF-585F-7647FAC8D4D4}"/>
              </a:ext>
            </a:extLst>
          </p:cNvPr>
          <p:cNvSpPr/>
          <p:nvPr/>
        </p:nvSpPr>
        <p:spPr>
          <a:xfrm>
            <a:off x="6365631" y="480646"/>
            <a:ext cx="363415" cy="361978"/>
          </a:xfrm>
          <a:prstGeom prst="ellipse">
            <a:avLst/>
          </a:prstGeom>
          <a:solidFill>
            <a:srgbClr val="FFD700"/>
          </a:solidFill>
          <a:ln>
            <a:solidFill>
              <a:srgbClr val="B886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017C1AAD-A3A1-D717-0A4D-A18684DE4CCA}"/>
              </a:ext>
            </a:extLst>
          </p:cNvPr>
          <p:cNvSpPr/>
          <p:nvPr/>
        </p:nvSpPr>
        <p:spPr>
          <a:xfrm>
            <a:off x="428304" y="300562"/>
            <a:ext cx="3189540" cy="861477"/>
          </a:xfrm>
          <a:prstGeom prst="rect">
            <a:avLst/>
          </a:prstGeom>
          <a:gradFill flip="none" rotWithShape="1">
            <a:gsLst>
              <a:gs pos="0">
                <a:srgbClr val="00008D">
                  <a:alpha val="0"/>
                  <a:lumMod val="98000"/>
                  <a:lumOff val="2000"/>
                </a:srgbClr>
              </a:gs>
              <a:gs pos="95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F5BB791A-3158-B10A-56A9-CA063D14400E}"/>
              </a:ext>
            </a:extLst>
          </p:cNvPr>
          <p:cNvSpPr/>
          <p:nvPr/>
        </p:nvSpPr>
        <p:spPr>
          <a:xfrm>
            <a:off x="1524001" y="1640848"/>
            <a:ext cx="9284676" cy="763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AO" sz="2800" b="1" noProof="0" dirty="0">
                <a:effectLst>
                  <a:outerShdw blurRad="406400" dist="38100" dir="4980000" sx="99000" sy="99000" algn="tl" rotWithShape="0">
                    <a:schemeClr val="bg1">
                      <a:lumMod val="85000"/>
                    </a:schemeClr>
                  </a:outerShdw>
                </a:effectLst>
                <a:latin typeface="Bahnschrift Condensed" panose="020B0502040204020203" pitchFamily="34" charset="0"/>
              </a:rPr>
              <a:t>Observe a imagem ao lado. Um cartão de produto mantém o mesmo formato, mas muda de nome e preço. O que mudou?</a:t>
            </a:r>
            <a:endParaRPr lang="pt-AO" sz="2800" noProof="0" dirty="0">
              <a:latin typeface="Bahnschrift Condensed" panose="020B0502040204020203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90CC944-0B68-4F5A-C1A6-7C800B9C1F8F}"/>
              </a:ext>
            </a:extLst>
          </p:cNvPr>
          <p:cNvSpPr/>
          <p:nvPr/>
        </p:nvSpPr>
        <p:spPr>
          <a:xfrm>
            <a:off x="11403829" y="140979"/>
            <a:ext cx="597877" cy="62657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cxnSp>
        <p:nvCxnSpPr>
          <p:cNvPr id="31" name="Conexão reta 30">
            <a:extLst>
              <a:ext uri="{FF2B5EF4-FFF2-40B4-BE49-F238E27FC236}">
                <a16:creationId xmlns:a16="http://schemas.microsoft.com/office/drawing/2014/main" id="{A91C53E0-9293-A084-1676-FACD45A45E8A}"/>
              </a:ext>
            </a:extLst>
          </p:cNvPr>
          <p:cNvCxnSpPr>
            <a:cxnSpLocks/>
          </p:cNvCxnSpPr>
          <p:nvPr/>
        </p:nvCxnSpPr>
        <p:spPr>
          <a:xfrm>
            <a:off x="8656042" y="590189"/>
            <a:ext cx="351691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7878F010-354C-5F12-4200-19D37EF53E31}"/>
              </a:ext>
            </a:extLst>
          </p:cNvPr>
          <p:cNvSpPr/>
          <p:nvPr/>
        </p:nvSpPr>
        <p:spPr>
          <a:xfrm>
            <a:off x="8327796" y="426094"/>
            <a:ext cx="328246" cy="341461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glow rad="76200">
              <a:srgbClr val="FFD700">
                <a:alpha val="34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b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57EFB37-E8A2-E3C9-81B5-ACDC8DDB0FEA}"/>
              </a:ext>
            </a:extLst>
          </p:cNvPr>
          <p:cNvSpPr/>
          <p:nvPr/>
        </p:nvSpPr>
        <p:spPr>
          <a:xfrm>
            <a:off x="9007733" y="426095"/>
            <a:ext cx="303054" cy="341461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b="1" noProof="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37" name="Conexão reta 36">
            <a:extLst>
              <a:ext uri="{FF2B5EF4-FFF2-40B4-BE49-F238E27FC236}">
                <a16:creationId xmlns:a16="http://schemas.microsoft.com/office/drawing/2014/main" id="{64ADE46F-4181-DE97-0E44-FDE917682B21}"/>
              </a:ext>
            </a:extLst>
          </p:cNvPr>
          <p:cNvCxnSpPr>
            <a:cxnSpLocks/>
          </p:cNvCxnSpPr>
          <p:nvPr/>
        </p:nvCxnSpPr>
        <p:spPr>
          <a:xfrm>
            <a:off x="9310787" y="596824"/>
            <a:ext cx="3516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22B9E638-2D95-BB24-C096-603A90E27654}"/>
              </a:ext>
            </a:extLst>
          </p:cNvPr>
          <p:cNvSpPr/>
          <p:nvPr/>
        </p:nvSpPr>
        <p:spPr>
          <a:xfrm>
            <a:off x="9663189" y="439522"/>
            <a:ext cx="303054" cy="3414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cxnSp>
        <p:nvCxnSpPr>
          <p:cNvPr id="40" name="Conexão reta 39">
            <a:extLst>
              <a:ext uri="{FF2B5EF4-FFF2-40B4-BE49-F238E27FC236}">
                <a16:creationId xmlns:a16="http://schemas.microsoft.com/office/drawing/2014/main" id="{66C0C122-5F30-FD8F-6F38-A66C7C4CC014}"/>
              </a:ext>
            </a:extLst>
          </p:cNvPr>
          <p:cNvCxnSpPr>
            <a:cxnSpLocks/>
          </p:cNvCxnSpPr>
          <p:nvPr/>
        </p:nvCxnSpPr>
        <p:spPr>
          <a:xfrm>
            <a:off x="9966243" y="607494"/>
            <a:ext cx="3516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2B1C7B36-5864-D038-4034-4E0274FB73BC}"/>
              </a:ext>
            </a:extLst>
          </p:cNvPr>
          <p:cNvSpPr/>
          <p:nvPr/>
        </p:nvSpPr>
        <p:spPr>
          <a:xfrm>
            <a:off x="10320432" y="426396"/>
            <a:ext cx="303054" cy="3414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pic>
        <p:nvPicPr>
          <p:cNvPr id="46" name="Gráfico 45" descr="Capelo com preenchimento sólido">
            <a:extLst>
              <a:ext uri="{FF2B5EF4-FFF2-40B4-BE49-F238E27FC236}">
                <a16:creationId xmlns:a16="http://schemas.microsoft.com/office/drawing/2014/main" id="{331870D3-3A32-FCF2-AB67-F2770A1F5B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439" y="-28728"/>
            <a:ext cx="868378" cy="1237834"/>
          </a:xfrm>
          <a:prstGeom prst="rect">
            <a:avLst/>
          </a:prstGeom>
        </p:spPr>
      </p:pic>
      <p:sp>
        <p:nvSpPr>
          <p:cNvPr id="47" name="Retângulo: Cantos Arredondados 46">
            <a:hlinkClick r:id="rId3" action="ppaction://hlinksldjump"/>
            <a:extLst>
              <a:ext uri="{FF2B5EF4-FFF2-40B4-BE49-F238E27FC236}">
                <a16:creationId xmlns:a16="http://schemas.microsoft.com/office/drawing/2014/main" id="{41AE27D3-093D-5F0C-46EE-7AF77B31C52B}"/>
              </a:ext>
            </a:extLst>
          </p:cNvPr>
          <p:cNvSpPr/>
          <p:nvPr/>
        </p:nvSpPr>
        <p:spPr>
          <a:xfrm>
            <a:off x="876609" y="2667928"/>
            <a:ext cx="5255626" cy="626728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AO" sz="2000" b="1" noProof="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    </a:t>
            </a:r>
          </a:p>
          <a:p>
            <a:r>
              <a:rPr lang="pt-AO" sz="2000" b="1" noProof="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      </a:t>
            </a:r>
            <a:endParaRPr lang="pt-AO" sz="2000" noProof="0" dirty="0">
              <a:solidFill>
                <a:schemeClr val="tx1"/>
              </a:solidFill>
            </a:endParaRPr>
          </a:p>
        </p:txBody>
      </p:sp>
      <p:sp>
        <p:nvSpPr>
          <p:cNvPr id="49" name="Retângulo: Cantos Arredondados 48">
            <a:hlinkClick r:id="rId4" action="ppaction://hlinksldjump"/>
            <a:extLst>
              <a:ext uri="{FF2B5EF4-FFF2-40B4-BE49-F238E27FC236}">
                <a16:creationId xmlns:a16="http://schemas.microsoft.com/office/drawing/2014/main" id="{253F7724-B6E9-8122-2469-580E73578022}"/>
              </a:ext>
            </a:extLst>
          </p:cNvPr>
          <p:cNvSpPr/>
          <p:nvPr/>
        </p:nvSpPr>
        <p:spPr>
          <a:xfrm>
            <a:off x="875543" y="3543432"/>
            <a:ext cx="5255626" cy="626728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solidFill>
                <a:schemeClr val="tx1"/>
              </a:solidFill>
            </a:endParaRPr>
          </a:p>
        </p:txBody>
      </p:sp>
      <p:sp>
        <p:nvSpPr>
          <p:cNvPr id="51" name="Retângulo: Cantos Arredondados 50">
            <a:hlinkClick r:id="rId4" action="ppaction://hlinksldjump"/>
            <a:extLst>
              <a:ext uri="{FF2B5EF4-FFF2-40B4-BE49-F238E27FC236}">
                <a16:creationId xmlns:a16="http://schemas.microsoft.com/office/drawing/2014/main" id="{DA756807-859F-6041-182E-DFD04F0ECA33}"/>
              </a:ext>
            </a:extLst>
          </p:cNvPr>
          <p:cNvSpPr/>
          <p:nvPr/>
        </p:nvSpPr>
        <p:spPr>
          <a:xfrm>
            <a:off x="875543" y="4363979"/>
            <a:ext cx="5255626" cy="626728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sp>
        <p:nvSpPr>
          <p:cNvPr id="53" name="Retângulo: Cantos Arredondados 52">
            <a:hlinkClick r:id="rId4" action="ppaction://hlinksldjump"/>
            <a:extLst>
              <a:ext uri="{FF2B5EF4-FFF2-40B4-BE49-F238E27FC236}">
                <a16:creationId xmlns:a16="http://schemas.microsoft.com/office/drawing/2014/main" id="{6C6A129C-CE5C-1D5B-BE44-D04EF58B91AD}"/>
              </a:ext>
            </a:extLst>
          </p:cNvPr>
          <p:cNvSpPr/>
          <p:nvPr/>
        </p:nvSpPr>
        <p:spPr>
          <a:xfrm>
            <a:off x="880300" y="5248935"/>
            <a:ext cx="5255626" cy="626728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pic>
        <p:nvPicPr>
          <p:cNvPr id="62" name="Gráfico 61" descr="Notas musicais com preenchimento sólido">
            <a:extLst>
              <a:ext uri="{FF2B5EF4-FFF2-40B4-BE49-F238E27FC236}">
                <a16:creationId xmlns:a16="http://schemas.microsoft.com/office/drawing/2014/main" id="{6DD32422-2648-9D29-1EF8-9ADD2F316B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60306" y="234462"/>
            <a:ext cx="484921" cy="422217"/>
          </a:xfrm>
          <a:prstGeom prst="rect">
            <a:avLst/>
          </a:prstGeom>
        </p:spPr>
      </p:pic>
      <p:sp>
        <p:nvSpPr>
          <p:cNvPr id="64" name="CaixaDeTexto 62">
            <a:hlinkClick r:id="rId4" action="ppaction://hlinksldjump"/>
            <a:extLst>
              <a:ext uri="{FF2B5EF4-FFF2-40B4-BE49-F238E27FC236}">
                <a16:creationId xmlns:a16="http://schemas.microsoft.com/office/drawing/2014/main" id="{E2C697B6-83CE-3B75-E130-B6B042055BA2}"/>
              </a:ext>
            </a:extLst>
          </p:cNvPr>
          <p:cNvSpPr txBox="1"/>
          <p:nvPr/>
        </p:nvSpPr>
        <p:spPr>
          <a:xfrm>
            <a:off x="1700911" y="3594001"/>
            <a:ext cx="4570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A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AO" sz="2400" noProof="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O componente</a:t>
            </a:r>
          </a:p>
        </p:txBody>
      </p:sp>
      <p:sp>
        <p:nvSpPr>
          <p:cNvPr id="65" name="CaixaDeTexto 62">
            <a:hlinkClick r:id="rId4" action="ppaction://hlinksldjump"/>
            <a:extLst>
              <a:ext uri="{FF2B5EF4-FFF2-40B4-BE49-F238E27FC236}">
                <a16:creationId xmlns:a16="http://schemas.microsoft.com/office/drawing/2014/main" id="{505499B4-3945-150B-1B65-F96948E27083}"/>
              </a:ext>
            </a:extLst>
          </p:cNvPr>
          <p:cNvSpPr txBox="1"/>
          <p:nvPr/>
        </p:nvSpPr>
        <p:spPr>
          <a:xfrm>
            <a:off x="1704602" y="4427324"/>
            <a:ext cx="1718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A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AO" sz="2400" noProof="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O palco</a:t>
            </a:r>
          </a:p>
        </p:txBody>
      </p:sp>
      <p:sp>
        <p:nvSpPr>
          <p:cNvPr id="66" name="CaixaDeTexto 62">
            <a:hlinkClick r:id="rId4" action="ppaction://hlinksldjump"/>
            <a:extLst>
              <a:ext uri="{FF2B5EF4-FFF2-40B4-BE49-F238E27FC236}">
                <a16:creationId xmlns:a16="http://schemas.microsoft.com/office/drawing/2014/main" id="{9C12E953-665A-0E74-4C6F-A21D97C0365E}"/>
              </a:ext>
            </a:extLst>
          </p:cNvPr>
          <p:cNvSpPr txBox="1"/>
          <p:nvPr/>
        </p:nvSpPr>
        <p:spPr>
          <a:xfrm>
            <a:off x="1700911" y="5285346"/>
            <a:ext cx="1960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A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AO" sz="2400" noProof="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A publicação</a:t>
            </a:r>
          </a:p>
        </p:txBody>
      </p:sp>
      <p:sp>
        <p:nvSpPr>
          <p:cNvPr id="68" name="CaixaDeTexto 67">
            <a:hlinkClick r:id="rId3" action="ppaction://hlinksldjump"/>
            <a:extLst>
              <a:ext uri="{FF2B5EF4-FFF2-40B4-BE49-F238E27FC236}">
                <a16:creationId xmlns:a16="http://schemas.microsoft.com/office/drawing/2014/main" id="{B8BC0CD5-565C-97C1-410F-801FCF03D44B}"/>
              </a:ext>
            </a:extLst>
          </p:cNvPr>
          <p:cNvSpPr txBox="1"/>
          <p:nvPr/>
        </p:nvSpPr>
        <p:spPr>
          <a:xfrm>
            <a:off x="1700911" y="2723525"/>
            <a:ext cx="1722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AO" sz="2400" noProof="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O conteúdo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8E31742-EF93-DAB5-780D-3D5B84C9A427}"/>
              </a:ext>
            </a:extLst>
          </p:cNvPr>
          <p:cNvSpPr txBox="1"/>
          <p:nvPr/>
        </p:nvSpPr>
        <p:spPr>
          <a:xfrm>
            <a:off x="1252974" y="257018"/>
            <a:ext cx="2408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AO" sz="4800" b="1" noProof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Bahnschrift Condensed" panose="020B0502040204020203" pitchFamily="34" charset="0"/>
              </a:rPr>
              <a:t>Quiz </a:t>
            </a:r>
            <a:r>
              <a:rPr lang="pt-AO" sz="4800" b="1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TIC</a:t>
            </a:r>
            <a:endParaRPr lang="pt-AO" sz="4800" noProof="0" dirty="0">
              <a:latin typeface="Bahnschrift Condensed" panose="020B0502040204020203" pitchFamily="34" charset="0"/>
            </a:endParaRPr>
          </a:p>
        </p:txBody>
      </p:sp>
      <p:sp>
        <p:nvSpPr>
          <p:cNvPr id="8" name="Oval 7">
            <a:hlinkClick r:id="rId3" action="ppaction://hlinksldjump"/>
            <a:extLst>
              <a:ext uri="{FF2B5EF4-FFF2-40B4-BE49-F238E27FC236}">
                <a16:creationId xmlns:a16="http://schemas.microsoft.com/office/drawing/2014/main" id="{A1161011-8034-A266-6075-D9D7666D06AB}"/>
              </a:ext>
            </a:extLst>
          </p:cNvPr>
          <p:cNvSpPr/>
          <p:nvPr/>
        </p:nvSpPr>
        <p:spPr>
          <a:xfrm>
            <a:off x="1020974" y="2723525"/>
            <a:ext cx="539263" cy="515533"/>
          </a:xfrm>
          <a:prstGeom prst="ellipse">
            <a:avLst/>
          </a:prstGeom>
          <a:solidFill>
            <a:srgbClr val="00008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200" b="1" noProof="0" dirty="0">
                <a:latin typeface="Bahnschrift Condensed" panose="020B0502040204020203" pitchFamily="34" charset="0"/>
              </a:rPr>
              <a:t>A</a:t>
            </a:r>
          </a:p>
        </p:txBody>
      </p:sp>
      <p:sp>
        <p:nvSpPr>
          <p:cNvPr id="10" name="Oval 9">
            <a:hlinkClick r:id="rId4" action="ppaction://hlinksldjump"/>
            <a:extLst>
              <a:ext uri="{FF2B5EF4-FFF2-40B4-BE49-F238E27FC236}">
                <a16:creationId xmlns:a16="http://schemas.microsoft.com/office/drawing/2014/main" id="{35EFF4A4-FA7E-F3BE-22EB-5D55699235DD}"/>
              </a:ext>
            </a:extLst>
          </p:cNvPr>
          <p:cNvSpPr/>
          <p:nvPr/>
        </p:nvSpPr>
        <p:spPr>
          <a:xfrm>
            <a:off x="1020974" y="3601688"/>
            <a:ext cx="539263" cy="515533"/>
          </a:xfrm>
          <a:prstGeom prst="ellipse">
            <a:avLst/>
          </a:prstGeom>
          <a:solidFill>
            <a:srgbClr val="00008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200" b="1" noProof="0" dirty="0">
                <a:latin typeface="Bahnschrift Condensed" panose="020B0502040204020203" pitchFamily="34" charset="0"/>
              </a:rPr>
              <a:t>B</a:t>
            </a:r>
          </a:p>
        </p:txBody>
      </p:sp>
      <p:sp>
        <p:nvSpPr>
          <p:cNvPr id="12" name="Oval 11">
            <a:hlinkClick r:id="rId4" action="ppaction://hlinksldjump"/>
            <a:extLst>
              <a:ext uri="{FF2B5EF4-FFF2-40B4-BE49-F238E27FC236}">
                <a16:creationId xmlns:a16="http://schemas.microsoft.com/office/drawing/2014/main" id="{CA7099FF-E93D-A6DA-5DA3-B392E9476D67}"/>
              </a:ext>
            </a:extLst>
          </p:cNvPr>
          <p:cNvSpPr/>
          <p:nvPr/>
        </p:nvSpPr>
        <p:spPr>
          <a:xfrm>
            <a:off x="1020974" y="4419576"/>
            <a:ext cx="539263" cy="515533"/>
          </a:xfrm>
          <a:prstGeom prst="ellipse">
            <a:avLst/>
          </a:prstGeom>
          <a:solidFill>
            <a:srgbClr val="00008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200" b="1" noProof="0" dirty="0">
                <a:latin typeface="Bahnschrift Condensed" panose="020B0502040204020203" pitchFamily="34" charset="0"/>
              </a:rPr>
              <a:t>C</a:t>
            </a:r>
          </a:p>
        </p:txBody>
      </p:sp>
      <p:sp>
        <p:nvSpPr>
          <p:cNvPr id="14" name="Oval 13">
            <a:hlinkClick r:id="rId4" action="ppaction://hlinksldjump"/>
            <a:extLst>
              <a:ext uri="{FF2B5EF4-FFF2-40B4-BE49-F238E27FC236}">
                <a16:creationId xmlns:a16="http://schemas.microsoft.com/office/drawing/2014/main" id="{7117C510-5596-DC71-A695-BA38C02FFE64}"/>
              </a:ext>
            </a:extLst>
          </p:cNvPr>
          <p:cNvSpPr/>
          <p:nvPr/>
        </p:nvSpPr>
        <p:spPr>
          <a:xfrm>
            <a:off x="1020974" y="5303513"/>
            <a:ext cx="539263" cy="515533"/>
          </a:xfrm>
          <a:prstGeom prst="ellipse">
            <a:avLst/>
          </a:prstGeom>
          <a:solidFill>
            <a:srgbClr val="00008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200" b="1" noProof="0" dirty="0">
                <a:latin typeface="Bahnschrift Condensed" panose="020B0502040204020203" pitchFamily="34" charset="0"/>
              </a:rPr>
              <a:t>D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158EA84-EDC6-0730-0244-E4313E19C399}"/>
              </a:ext>
            </a:extLst>
          </p:cNvPr>
          <p:cNvSpPr/>
          <p:nvPr/>
        </p:nvSpPr>
        <p:spPr>
          <a:xfrm>
            <a:off x="7210511" y="2590262"/>
            <a:ext cx="3597918" cy="3207735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</p:spTree>
    <p:extLst>
      <p:ext uri="{BB962C8B-B14F-4D97-AF65-F5344CB8AC3E}">
        <p14:creationId xmlns:p14="http://schemas.microsoft.com/office/powerpoint/2010/main" val="244287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3501B"/>
            </a:gs>
            <a:gs pos="95000">
              <a:schemeClr val="tx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4CD8D2-2841-41A4-B872-7C46B27D3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6A1E7D2C-24BF-19E9-53DA-D0EE7CB17BFE}"/>
              </a:ext>
            </a:extLst>
          </p:cNvPr>
          <p:cNvSpPr/>
          <p:nvPr/>
        </p:nvSpPr>
        <p:spPr>
          <a:xfrm>
            <a:off x="472247" y="241777"/>
            <a:ext cx="3189540" cy="8614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95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latin typeface="Bahnschrift Condensed" panose="020B0502040204020203" pitchFamily="34" charset="0"/>
            </a:endParaRPr>
          </a:p>
        </p:txBody>
      </p:sp>
      <p:pic>
        <p:nvPicPr>
          <p:cNvPr id="46" name="Gráfico 45" descr="Capelo com preenchimento sólido">
            <a:extLst>
              <a:ext uri="{FF2B5EF4-FFF2-40B4-BE49-F238E27FC236}">
                <a16:creationId xmlns:a16="http://schemas.microsoft.com/office/drawing/2014/main" id="{49363B56-2EC5-790F-7776-67DE056567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439" y="-28728"/>
            <a:ext cx="868378" cy="123783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540CDAC-03F0-1854-1164-3940E7942FA7}"/>
              </a:ext>
            </a:extLst>
          </p:cNvPr>
          <p:cNvSpPr txBox="1"/>
          <p:nvPr/>
        </p:nvSpPr>
        <p:spPr>
          <a:xfrm>
            <a:off x="1252974" y="257018"/>
            <a:ext cx="2408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AO" sz="4800" b="1" noProof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Bahnschrift Condensed" panose="020B0502040204020203" pitchFamily="34" charset="0"/>
              </a:rPr>
              <a:t>Quiz </a:t>
            </a:r>
            <a:r>
              <a:rPr lang="pt-AO" sz="4800" b="1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TIC</a:t>
            </a:r>
            <a:endParaRPr lang="pt-AO" sz="4800" noProof="0" dirty="0">
              <a:latin typeface="Bahnschrift Condensed" panose="020B0502040204020203" pitchFamily="34" charset="0"/>
            </a:endParaRPr>
          </a:p>
        </p:txBody>
      </p:sp>
      <p:cxnSp>
        <p:nvCxnSpPr>
          <p:cNvPr id="3" name="Conexão reta 2">
            <a:extLst>
              <a:ext uri="{FF2B5EF4-FFF2-40B4-BE49-F238E27FC236}">
                <a16:creationId xmlns:a16="http://schemas.microsoft.com/office/drawing/2014/main" id="{85EF5186-76B6-1069-EA26-5C3B891295A3}"/>
              </a:ext>
            </a:extLst>
          </p:cNvPr>
          <p:cNvCxnSpPr/>
          <p:nvPr/>
        </p:nvCxnSpPr>
        <p:spPr>
          <a:xfrm>
            <a:off x="360814" y="1510145"/>
            <a:ext cx="11470371" cy="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1">
            <a:extLst>
              <a:ext uri="{FF2B5EF4-FFF2-40B4-BE49-F238E27FC236}">
                <a16:creationId xmlns:a16="http://schemas.microsoft.com/office/drawing/2014/main" id="{ACD0AFE9-2C2F-0149-9CA3-4B74CB9E668A}"/>
              </a:ext>
            </a:extLst>
          </p:cNvPr>
          <p:cNvSpPr/>
          <p:nvPr/>
        </p:nvSpPr>
        <p:spPr>
          <a:xfrm>
            <a:off x="559439" y="1811185"/>
            <a:ext cx="1241652" cy="1101437"/>
          </a:xfrm>
          <a:prstGeom prst="ellipse">
            <a:avLst/>
          </a:prstGeom>
          <a:solidFill>
            <a:srgbClr val="22C55E"/>
          </a:solidFill>
          <a:ln w="25400">
            <a:solidFill>
              <a:srgbClr val="86EFAC"/>
            </a:solidFill>
          </a:ln>
          <a:effectLst>
            <a:outerShdw blurRad="152400" dist="50800" dir="16200000" algn="bl" rotWithShape="0">
              <a:srgbClr val="22C55E">
                <a:alpha val="8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pt-AO" noProof="0" dirty="0">
              <a:latin typeface="Bahnschrift Condensed" panose="020B0502040204020203" pitchFamily="34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93A7617F-5F8D-21A4-19E7-210B0FDAC28F}"/>
              </a:ext>
            </a:extLst>
          </p:cNvPr>
          <p:cNvSpPr/>
          <p:nvPr/>
        </p:nvSpPr>
        <p:spPr>
          <a:xfrm>
            <a:off x="532017" y="3240578"/>
            <a:ext cx="6949440" cy="2133600"/>
          </a:xfrm>
          <a:prstGeom prst="roundRect">
            <a:avLst>
              <a:gd name="adj" fmla="val 6857"/>
            </a:avLst>
          </a:prstGeom>
          <a:solidFill>
            <a:srgbClr val="03200F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AO" noProof="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7CAB8042-FFED-1F7F-4C92-532C36B2B243}"/>
              </a:ext>
            </a:extLst>
          </p:cNvPr>
          <p:cNvSpPr txBox="1"/>
          <p:nvPr/>
        </p:nvSpPr>
        <p:spPr>
          <a:xfrm>
            <a:off x="864354" y="3332018"/>
            <a:ext cx="6339840" cy="19507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pPr marL="457200" indent="-457200">
              <a:spcAft>
                <a:spcPts val="800"/>
              </a:spcAft>
              <a:buAutoNum type="alphaUcParenR"/>
            </a:pPr>
            <a:r>
              <a:rPr lang="pt-AO" sz="28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O conteúdo</a:t>
            </a:r>
          </a:p>
          <a:p>
            <a:pPr marL="457200" indent="-457200">
              <a:spcAft>
                <a:spcPts val="800"/>
              </a:spcAft>
              <a:buAutoNum type="alphaUcParenR"/>
            </a:pPr>
            <a:endParaRPr lang="pt-AO" sz="2400" noProof="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  <a:p>
            <a:pPr>
              <a:spcAft>
                <a:spcPts val="800"/>
              </a:spcAft>
            </a:pPr>
            <a:r>
              <a:rPr lang="pt-AO" noProof="0" dirty="0">
                <a:latin typeface="Bahnschrift Condensed" panose="020B0502040204020203" pitchFamily="34" charset="0"/>
              </a:rPr>
              <a:t>:</a:t>
            </a:r>
            <a:r>
              <a:rPr lang="pt-AO" sz="20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O componente é a estrutura reutilizável; o conteúdo interno pode mudar sem alterar o componente.</a:t>
            </a:r>
            <a:endParaRPr lang="pt-AO" sz="1933" noProof="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5A0DD7A9-0ED1-D09C-734E-CBF77E534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533" y="2074272"/>
            <a:ext cx="563463" cy="575262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83557DA9-F8E3-C0D7-B767-BA3B219072D0}"/>
              </a:ext>
            </a:extLst>
          </p:cNvPr>
          <p:cNvSpPr txBox="1"/>
          <p:nvPr/>
        </p:nvSpPr>
        <p:spPr>
          <a:xfrm>
            <a:off x="2106006" y="1728057"/>
            <a:ext cx="3726758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AO" sz="4533" b="1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PARABÉNS!</a:t>
            </a:r>
            <a:endParaRPr lang="pt-AO" sz="4533" noProof="0" dirty="0">
              <a:latin typeface="Bahnschrift Condensed" panose="020B0502040204020203" pitchFamily="34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5467E143-84BB-4F51-2670-B20EB61CC656}"/>
              </a:ext>
            </a:extLst>
          </p:cNvPr>
          <p:cNvSpPr txBox="1"/>
          <p:nvPr/>
        </p:nvSpPr>
        <p:spPr>
          <a:xfrm>
            <a:off x="2130832" y="2424942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AO" sz="2400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Resposta correcta!</a:t>
            </a:r>
            <a:endParaRPr lang="pt-AO" sz="2400" noProof="0" dirty="0">
              <a:latin typeface="Bahnschrift Condensed" panose="020B0502040204020203" pitchFamily="34" charset="0"/>
            </a:endParaRPr>
          </a:p>
        </p:txBody>
      </p:sp>
      <p:sp>
        <p:nvSpPr>
          <p:cNvPr id="23" name="Text 7">
            <a:hlinkClick r:id="rId4" action="ppaction://hlinksldjump"/>
            <a:extLst>
              <a:ext uri="{FF2B5EF4-FFF2-40B4-BE49-F238E27FC236}">
                <a16:creationId xmlns:a16="http://schemas.microsoft.com/office/drawing/2014/main" id="{209A5F07-DA8F-9292-D34E-E3B7575BBACA}"/>
              </a:ext>
            </a:extLst>
          </p:cNvPr>
          <p:cNvSpPr/>
          <p:nvPr/>
        </p:nvSpPr>
        <p:spPr>
          <a:xfrm>
            <a:off x="864354" y="5911339"/>
            <a:ext cx="2438400" cy="6096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9050">
            <a:solidFill>
              <a:srgbClr val="86EFAC"/>
            </a:solidFill>
          </a:ln>
          <a:effectLst>
            <a:outerShdw blurRad="127000" dist="50800" dir="16200000" algn="bl" rotWithShape="0">
              <a:srgbClr val="86EFAC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pt-AO" sz="1867" b="1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pt-AO" sz="1867" noProof="0" dirty="0">
              <a:latin typeface="Bahnschrift Condensed" panose="020B0502040204020203" pitchFamily="34" charset="0"/>
            </a:endParaRPr>
          </a:p>
        </p:txBody>
      </p:sp>
      <p:pic>
        <p:nvPicPr>
          <p:cNvPr id="32" name="Image 3" descr="preencoded.png">
            <a:hlinkClick r:id="rId4" action="ppaction://hlinksldjump"/>
            <a:extLst>
              <a:ext uri="{FF2B5EF4-FFF2-40B4-BE49-F238E27FC236}">
                <a16:creationId xmlns:a16="http://schemas.microsoft.com/office/drawing/2014/main" id="{6F0A2CF0-FD54-20D0-750C-CF8D8C9A5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974" y="6094219"/>
            <a:ext cx="243840" cy="243840"/>
          </a:xfrm>
          <a:prstGeom prst="rect">
            <a:avLst/>
          </a:prstGeom>
        </p:spPr>
      </p:pic>
      <p:sp>
        <p:nvSpPr>
          <p:cNvPr id="34" name="Retângulo 33">
            <a:extLst>
              <a:ext uri="{FF2B5EF4-FFF2-40B4-BE49-F238E27FC236}">
                <a16:creationId xmlns:a16="http://schemas.microsoft.com/office/drawing/2014/main" id="{8E18C88C-3F4D-6794-FF6A-4852949DA88F}"/>
              </a:ext>
            </a:extLst>
          </p:cNvPr>
          <p:cNvSpPr/>
          <p:nvPr/>
        </p:nvSpPr>
        <p:spPr>
          <a:xfrm>
            <a:off x="7811198" y="2611438"/>
            <a:ext cx="4010634" cy="3299901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  <a:scene3d>
            <a:camera prst="obliqueTopRigh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342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95000">
              <a:schemeClr val="tx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522657-6994-B38D-47AA-5A70243F3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F181B613-CE21-6A0F-CDF1-075808FFA25B}"/>
              </a:ext>
            </a:extLst>
          </p:cNvPr>
          <p:cNvSpPr/>
          <p:nvPr/>
        </p:nvSpPr>
        <p:spPr>
          <a:xfrm>
            <a:off x="472247" y="241777"/>
            <a:ext cx="3189540" cy="861477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95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latin typeface="Bahnschrift Condensed" panose="020B0502040204020203" pitchFamily="34" charset="0"/>
            </a:endParaRPr>
          </a:p>
        </p:txBody>
      </p:sp>
      <p:pic>
        <p:nvPicPr>
          <p:cNvPr id="46" name="Gráfico 45" descr="Capelo com preenchimento sólido">
            <a:extLst>
              <a:ext uri="{FF2B5EF4-FFF2-40B4-BE49-F238E27FC236}">
                <a16:creationId xmlns:a16="http://schemas.microsoft.com/office/drawing/2014/main" id="{F8138372-2C38-BFA6-99C6-E8D60DCB21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439" y="-28728"/>
            <a:ext cx="868378" cy="123783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A1990F1-B923-B1E4-7F99-998428A0BDFD}"/>
              </a:ext>
            </a:extLst>
          </p:cNvPr>
          <p:cNvSpPr txBox="1"/>
          <p:nvPr/>
        </p:nvSpPr>
        <p:spPr>
          <a:xfrm>
            <a:off x="1252974" y="257018"/>
            <a:ext cx="2408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AO" sz="4800" b="1" noProof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Bahnschrift Condensed" panose="020B0502040204020203" pitchFamily="34" charset="0"/>
              </a:rPr>
              <a:t>Quiz </a:t>
            </a:r>
            <a:r>
              <a:rPr lang="pt-AO" sz="4800" b="1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TIC</a:t>
            </a:r>
            <a:endParaRPr lang="pt-AO" sz="4800" noProof="0" dirty="0">
              <a:latin typeface="Bahnschrift Condensed" panose="020B0502040204020203" pitchFamily="34" charset="0"/>
            </a:endParaRPr>
          </a:p>
        </p:txBody>
      </p:sp>
      <p:cxnSp>
        <p:nvCxnSpPr>
          <p:cNvPr id="3" name="Conexão reta 2">
            <a:extLst>
              <a:ext uri="{FF2B5EF4-FFF2-40B4-BE49-F238E27FC236}">
                <a16:creationId xmlns:a16="http://schemas.microsoft.com/office/drawing/2014/main" id="{AC3102D9-8FC4-5A86-2AFF-DD27C2FB44B4}"/>
              </a:ext>
            </a:extLst>
          </p:cNvPr>
          <p:cNvCxnSpPr/>
          <p:nvPr/>
        </p:nvCxnSpPr>
        <p:spPr>
          <a:xfrm>
            <a:off x="360814" y="1510145"/>
            <a:ext cx="11470371" cy="0"/>
          </a:xfrm>
          <a:prstGeom prst="line">
            <a:avLst/>
          </a:prstGeom>
          <a:ln w="25400">
            <a:solidFill>
              <a:srgbClr val="C00000"/>
            </a:solidFill>
          </a:ln>
          <a:effectLst>
            <a:glow rad="63500">
              <a:srgbClr val="C00000">
                <a:alpha val="4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1">
            <a:extLst>
              <a:ext uri="{FF2B5EF4-FFF2-40B4-BE49-F238E27FC236}">
                <a16:creationId xmlns:a16="http://schemas.microsoft.com/office/drawing/2014/main" id="{4A65B85B-09C0-8FFF-6249-F082C0F99625}"/>
              </a:ext>
            </a:extLst>
          </p:cNvPr>
          <p:cNvSpPr/>
          <p:nvPr/>
        </p:nvSpPr>
        <p:spPr>
          <a:xfrm>
            <a:off x="559439" y="1811185"/>
            <a:ext cx="1241652" cy="1101437"/>
          </a:xfrm>
          <a:prstGeom prst="ellipse">
            <a:avLst/>
          </a:prstGeom>
          <a:solidFill>
            <a:srgbClr val="C00000"/>
          </a:solidFill>
          <a:ln w="22225">
            <a:solidFill>
              <a:schemeClr val="bg1"/>
            </a:solidFill>
          </a:ln>
          <a:effectLst>
            <a:outerShdw blurRad="152400" dist="50800" dir="16200000" algn="bl" rotWithShape="0">
              <a:srgbClr val="C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pt-AO" noProof="0" dirty="0">
              <a:latin typeface="Bahnschrift Condensed" panose="020B0502040204020203" pitchFamily="34" charset="0"/>
            </a:endParaRPr>
          </a:p>
        </p:txBody>
      </p:sp>
      <p:sp>
        <p:nvSpPr>
          <p:cNvPr id="23" name="Text 7">
            <a:hlinkClick r:id="rId3" action="ppaction://hlinksldjump"/>
            <a:extLst>
              <a:ext uri="{FF2B5EF4-FFF2-40B4-BE49-F238E27FC236}">
                <a16:creationId xmlns:a16="http://schemas.microsoft.com/office/drawing/2014/main" id="{EAC3929B-8C6B-B08B-0C86-5921E5BA0F58}"/>
              </a:ext>
            </a:extLst>
          </p:cNvPr>
          <p:cNvSpPr/>
          <p:nvPr/>
        </p:nvSpPr>
        <p:spPr>
          <a:xfrm>
            <a:off x="847817" y="5827015"/>
            <a:ext cx="2438400" cy="6096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19050">
            <a:solidFill>
              <a:schemeClr val="bg2"/>
            </a:solidFill>
          </a:ln>
          <a:effectLst>
            <a:outerShdw blurRad="127000" dist="50800" dir="16200000" algn="bl" rotWithShape="0">
              <a:srgbClr val="C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pt-AO" sz="1867" b="1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pt-AO" sz="1867" noProof="0" dirty="0">
              <a:latin typeface="Bahnschrift Condensed" panose="020B0502040204020203" pitchFamily="34" charset="0"/>
            </a:endParaRPr>
          </a:p>
        </p:txBody>
      </p:sp>
      <p:pic>
        <p:nvPicPr>
          <p:cNvPr id="32" name="Image 3" descr="preencoded.png">
            <a:hlinkClick r:id="rId3" action="ppaction://hlinksldjump"/>
            <a:extLst>
              <a:ext uri="{FF2B5EF4-FFF2-40B4-BE49-F238E27FC236}">
                <a16:creationId xmlns:a16="http://schemas.microsoft.com/office/drawing/2014/main" id="{52124D2D-0014-48FA-2B40-DCE8EB32D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897" y="6009895"/>
            <a:ext cx="243840" cy="243840"/>
          </a:xfrm>
          <a:prstGeom prst="rect">
            <a:avLst/>
          </a:prstGeom>
        </p:spPr>
      </p:pic>
      <p:sp>
        <p:nvSpPr>
          <p:cNvPr id="34" name="Retângulo 33">
            <a:extLst>
              <a:ext uri="{FF2B5EF4-FFF2-40B4-BE49-F238E27FC236}">
                <a16:creationId xmlns:a16="http://schemas.microsoft.com/office/drawing/2014/main" id="{7873FDE7-4389-1A10-43C5-D6A57926F93D}"/>
              </a:ext>
            </a:extLst>
          </p:cNvPr>
          <p:cNvSpPr/>
          <p:nvPr/>
        </p:nvSpPr>
        <p:spPr>
          <a:xfrm>
            <a:off x="7811198" y="2611438"/>
            <a:ext cx="4010634" cy="3299901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glow rad="63500">
              <a:srgbClr val="C00000">
                <a:alpha val="40000"/>
              </a:srgbClr>
            </a:glow>
          </a:effectLst>
          <a:scene3d>
            <a:camera prst="obliqueTopRigh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latin typeface="Bahnschrift Condensed" panose="020B0502040204020203" pitchFamily="34" charset="0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80856BE-A9E3-EE65-B62B-F222F5434A5A}"/>
              </a:ext>
            </a:extLst>
          </p:cNvPr>
          <p:cNvSpPr/>
          <p:nvPr/>
        </p:nvSpPr>
        <p:spPr>
          <a:xfrm>
            <a:off x="554697" y="3274028"/>
            <a:ext cx="6926080" cy="2073827"/>
          </a:xfrm>
          <a:prstGeom prst="roundRect">
            <a:avLst>
              <a:gd name="adj" fmla="val 6857"/>
            </a:avLst>
          </a:prstGeom>
          <a:solidFill>
            <a:srgbClr val="2A0910">
              <a:alpha val="14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AO" noProof="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C36464D-502C-E1A5-8BD3-FFFE3F7BE4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246" y="2047803"/>
            <a:ext cx="690038" cy="576450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CBF979DE-E587-9A25-9957-8832707DEB2D}"/>
              </a:ext>
            </a:extLst>
          </p:cNvPr>
          <p:cNvSpPr txBox="1"/>
          <p:nvPr/>
        </p:nvSpPr>
        <p:spPr>
          <a:xfrm>
            <a:off x="2130832" y="1811185"/>
            <a:ext cx="33971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AO" sz="4400" b="1" noProof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OPS!</a:t>
            </a:r>
            <a:endParaRPr lang="pt-AO" sz="4400" noProof="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C310EC62-3072-A466-DCAD-7A009A345BF6}"/>
              </a:ext>
            </a:extLst>
          </p:cNvPr>
          <p:cNvSpPr txBox="1"/>
          <p:nvPr/>
        </p:nvSpPr>
        <p:spPr>
          <a:xfrm>
            <a:off x="2130832" y="2378629"/>
            <a:ext cx="4114800" cy="460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AO" sz="2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incorrecta.</a:t>
            </a:r>
            <a:endParaRPr lang="pt-AO" sz="2400" noProof="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03E04595-4465-DA81-F5BD-6DC24FD127D6}"/>
              </a:ext>
            </a:extLst>
          </p:cNvPr>
          <p:cNvSpPr txBox="1"/>
          <p:nvPr/>
        </p:nvSpPr>
        <p:spPr>
          <a:xfrm>
            <a:off x="864354" y="3332018"/>
            <a:ext cx="6339840" cy="19507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pPr marL="457200" indent="-457200">
              <a:spcAft>
                <a:spcPts val="800"/>
              </a:spcAft>
              <a:buAutoNum type="alphaUcParenR"/>
            </a:pPr>
            <a:r>
              <a:rPr lang="pt-AO" sz="28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O conteúdo</a:t>
            </a:r>
          </a:p>
          <a:p>
            <a:pPr marL="457200" indent="-457200">
              <a:spcAft>
                <a:spcPts val="800"/>
              </a:spcAft>
              <a:buAutoNum type="alphaUcParenR"/>
            </a:pPr>
            <a:endParaRPr lang="pt-AO" sz="2400" noProof="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  <a:p>
            <a:pPr>
              <a:spcAft>
                <a:spcPts val="800"/>
              </a:spcAft>
            </a:pPr>
            <a:r>
              <a:rPr lang="pt-AO" noProof="0" dirty="0">
                <a:latin typeface="Bahnschrift Condensed" panose="020B0502040204020203" pitchFamily="34" charset="0"/>
              </a:rPr>
              <a:t>:</a:t>
            </a:r>
            <a:r>
              <a:rPr lang="pt-AO" sz="20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O componente é a estrutura reutilizável; o conteúdo interno pode mudar sem alterar o componente.</a:t>
            </a:r>
            <a:endParaRPr lang="pt-AO" sz="1933" noProof="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56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61706-6FA9-2268-3747-722D3F6C8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8C9283CC-4374-1F59-EDAB-808003D5D08B}"/>
              </a:ext>
            </a:extLst>
          </p:cNvPr>
          <p:cNvSpPr/>
          <p:nvPr/>
        </p:nvSpPr>
        <p:spPr>
          <a:xfrm>
            <a:off x="234461" y="1395047"/>
            <a:ext cx="11723077" cy="5146430"/>
          </a:xfrm>
          <a:prstGeom prst="roundRect">
            <a:avLst>
              <a:gd name="adj" fmla="val 3663"/>
            </a:avLst>
          </a:prstGeom>
          <a:noFill/>
          <a:ln>
            <a:solidFill>
              <a:srgbClr val="00B0F0"/>
            </a:solidFill>
          </a:ln>
          <a:effectLst>
            <a:glow rad="101600">
              <a:srgbClr val="00B0F0">
                <a:alpha val="40000"/>
              </a:srgbClr>
            </a:glow>
            <a:outerShdw blurRad="50800" dist="50800" dir="5400000" algn="ct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9C61E6A9-0951-8593-29B6-DF2B76C9A959}"/>
              </a:ext>
            </a:extLst>
          </p:cNvPr>
          <p:cNvSpPr/>
          <p:nvPr/>
        </p:nvSpPr>
        <p:spPr>
          <a:xfrm>
            <a:off x="4415425" y="339395"/>
            <a:ext cx="2520462" cy="63304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D700"/>
              </a:gs>
              <a:gs pos="92000">
                <a:schemeClr val="tx1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600" noProof="0" dirty="0">
                <a:solidFill>
                  <a:srgbClr val="FFFF00"/>
                </a:solidFill>
                <a:effectLst>
                  <a:glow rad="38100">
                    <a:srgbClr val="FFC000">
                      <a:alpha val="84000"/>
                    </a:srgbClr>
                  </a:glow>
                  <a:outerShdw blurRad="1206500" dist="127000" dir="9000000" sx="94000" sy="94000" algn="ctr" rotWithShape="0">
                    <a:srgbClr val="FFC000">
                      <a:alpha val="98000"/>
                    </a:srgbClr>
                  </a:outerShdw>
                </a:effectLst>
                <a:latin typeface="Bahnschrift Condensed" panose="020B0502040204020203" pitchFamily="34" charset="0"/>
              </a:rPr>
              <a:t>Médio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CE3BB80-A219-8DA1-DFB0-0B29D292E9F7}"/>
              </a:ext>
            </a:extLst>
          </p:cNvPr>
          <p:cNvSpPr/>
          <p:nvPr/>
        </p:nvSpPr>
        <p:spPr>
          <a:xfrm>
            <a:off x="6365631" y="480646"/>
            <a:ext cx="363415" cy="361978"/>
          </a:xfrm>
          <a:prstGeom prst="ellipse">
            <a:avLst/>
          </a:prstGeom>
          <a:solidFill>
            <a:srgbClr val="FFD700"/>
          </a:solidFill>
          <a:ln>
            <a:solidFill>
              <a:srgbClr val="B886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1490B4C-397F-98A2-6ABC-6445F688C312}"/>
              </a:ext>
            </a:extLst>
          </p:cNvPr>
          <p:cNvSpPr/>
          <p:nvPr/>
        </p:nvSpPr>
        <p:spPr>
          <a:xfrm>
            <a:off x="428304" y="300562"/>
            <a:ext cx="3189540" cy="861477"/>
          </a:xfrm>
          <a:prstGeom prst="rect">
            <a:avLst/>
          </a:prstGeom>
          <a:gradFill flip="none" rotWithShape="1">
            <a:gsLst>
              <a:gs pos="0">
                <a:srgbClr val="00008D">
                  <a:alpha val="0"/>
                  <a:lumMod val="98000"/>
                  <a:lumOff val="2000"/>
                </a:srgbClr>
              </a:gs>
              <a:gs pos="95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CB4A17E-2222-E7C4-FBF7-357A698C154F}"/>
              </a:ext>
            </a:extLst>
          </p:cNvPr>
          <p:cNvSpPr/>
          <p:nvPr/>
        </p:nvSpPr>
        <p:spPr>
          <a:xfrm>
            <a:off x="1524001" y="1640848"/>
            <a:ext cx="9284676" cy="763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AO" sz="2800" b="1" noProof="0" dirty="0">
                <a:effectLst>
                  <a:outerShdw blurRad="406400" dist="38100" dir="4980000" sx="99000" sy="99000" algn="tl" rotWithShape="0">
                    <a:schemeClr val="bg1">
                      <a:lumMod val="85000"/>
                    </a:schemeClr>
                  </a:outerShdw>
                </a:effectLst>
                <a:latin typeface="Bahnschrift Condensed" panose="020B0502040204020203" pitchFamily="34" charset="0"/>
              </a:rPr>
              <a:t>Qual é a diferença entre UI e UX?</a:t>
            </a:r>
            <a:endParaRPr lang="pt-AO" sz="2800" noProof="0" dirty="0">
              <a:latin typeface="Bahnschrift Condensed" panose="020B0502040204020203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7780213-A264-10B6-ED65-1E0F20C613C8}"/>
              </a:ext>
            </a:extLst>
          </p:cNvPr>
          <p:cNvSpPr/>
          <p:nvPr/>
        </p:nvSpPr>
        <p:spPr>
          <a:xfrm>
            <a:off x="11403829" y="140979"/>
            <a:ext cx="597877" cy="62657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cxnSp>
        <p:nvCxnSpPr>
          <p:cNvPr id="31" name="Conexão reta 30">
            <a:extLst>
              <a:ext uri="{FF2B5EF4-FFF2-40B4-BE49-F238E27FC236}">
                <a16:creationId xmlns:a16="http://schemas.microsoft.com/office/drawing/2014/main" id="{3ACC6476-5A5C-708A-07CC-FCA00468E8FC}"/>
              </a:ext>
            </a:extLst>
          </p:cNvPr>
          <p:cNvCxnSpPr>
            <a:cxnSpLocks/>
          </p:cNvCxnSpPr>
          <p:nvPr/>
        </p:nvCxnSpPr>
        <p:spPr>
          <a:xfrm>
            <a:off x="8656042" y="590189"/>
            <a:ext cx="351691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CB27637-133C-F03E-5A9D-5C61C1376B3B}"/>
              </a:ext>
            </a:extLst>
          </p:cNvPr>
          <p:cNvSpPr/>
          <p:nvPr/>
        </p:nvSpPr>
        <p:spPr>
          <a:xfrm>
            <a:off x="8327796" y="426094"/>
            <a:ext cx="328246" cy="341461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glow rad="76200">
              <a:srgbClr val="FFD700">
                <a:alpha val="34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b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56775D0-E9D5-A13D-3A1F-4E87E437ADE9}"/>
              </a:ext>
            </a:extLst>
          </p:cNvPr>
          <p:cNvSpPr/>
          <p:nvPr/>
        </p:nvSpPr>
        <p:spPr>
          <a:xfrm>
            <a:off x="9007733" y="426095"/>
            <a:ext cx="303054" cy="341461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b="1" noProof="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37" name="Conexão reta 36">
            <a:extLst>
              <a:ext uri="{FF2B5EF4-FFF2-40B4-BE49-F238E27FC236}">
                <a16:creationId xmlns:a16="http://schemas.microsoft.com/office/drawing/2014/main" id="{4E6915E4-67A0-25CD-2256-5BFEAB6EB303}"/>
              </a:ext>
            </a:extLst>
          </p:cNvPr>
          <p:cNvCxnSpPr>
            <a:cxnSpLocks/>
          </p:cNvCxnSpPr>
          <p:nvPr/>
        </p:nvCxnSpPr>
        <p:spPr>
          <a:xfrm>
            <a:off x="9310787" y="596824"/>
            <a:ext cx="351691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807C74B3-81DF-E2CA-1020-55B5261D83DB}"/>
              </a:ext>
            </a:extLst>
          </p:cNvPr>
          <p:cNvSpPr/>
          <p:nvPr/>
        </p:nvSpPr>
        <p:spPr>
          <a:xfrm>
            <a:off x="9663189" y="439522"/>
            <a:ext cx="303054" cy="341461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  <a:effectLst>
            <a:glow rad="63500">
              <a:srgbClr val="FFC0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b="1" noProof="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40" name="Conexão reta 39">
            <a:extLst>
              <a:ext uri="{FF2B5EF4-FFF2-40B4-BE49-F238E27FC236}">
                <a16:creationId xmlns:a16="http://schemas.microsoft.com/office/drawing/2014/main" id="{1914B262-0788-E7E0-6E96-6D58012296BA}"/>
              </a:ext>
            </a:extLst>
          </p:cNvPr>
          <p:cNvCxnSpPr>
            <a:cxnSpLocks/>
          </p:cNvCxnSpPr>
          <p:nvPr/>
        </p:nvCxnSpPr>
        <p:spPr>
          <a:xfrm>
            <a:off x="9966243" y="607494"/>
            <a:ext cx="3516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F347595E-B126-425B-F664-C1942886BFBB}"/>
              </a:ext>
            </a:extLst>
          </p:cNvPr>
          <p:cNvSpPr/>
          <p:nvPr/>
        </p:nvSpPr>
        <p:spPr>
          <a:xfrm>
            <a:off x="10320432" y="426396"/>
            <a:ext cx="303054" cy="3414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pic>
        <p:nvPicPr>
          <p:cNvPr id="46" name="Gráfico 45" descr="Capelo com preenchimento sólido">
            <a:extLst>
              <a:ext uri="{FF2B5EF4-FFF2-40B4-BE49-F238E27FC236}">
                <a16:creationId xmlns:a16="http://schemas.microsoft.com/office/drawing/2014/main" id="{AAE6E95A-2C77-4683-DC7C-084D5A7B4F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439" y="-28728"/>
            <a:ext cx="868378" cy="1237834"/>
          </a:xfrm>
          <a:prstGeom prst="rect">
            <a:avLst/>
          </a:prstGeom>
        </p:spPr>
      </p:pic>
      <p:sp>
        <p:nvSpPr>
          <p:cNvPr id="47" name="Retângulo: Cantos Arredondados 46">
            <a:hlinkClick r:id="rId3" action="ppaction://hlinksldjump"/>
            <a:extLst>
              <a:ext uri="{FF2B5EF4-FFF2-40B4-BE49-F238E27FC236}">
                <a16:creationId xmlns:a16="http://schemas.microsoft.com/office/drawing/2014/main" id="{A778B9A8-DC46-E756-3159-389B792AAFF0}"/>
              </a:ext>
            </a:extLst>
          </p:cNvPr>
          <p:cNvSpPr/>
          <p:nvPr/>
        </p:nvSpPr>
        <p:spPr>
          <a:xfrm>
            <a:off x="876609" y="2667928"/>
            <a:ext cx="5836314" cy="626728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AO" sz="2000" b="1" noProof="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    </a:t>
            </a:r>
          </a:p>
          <a:p>
            <a:r>
              <a:rPr lang="pt-AO" sz="2000" b="1" noProof="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      </a:t>
            </a:r>
            <a:endParaRPr lang="pt-AO" sz="2000" noProof="0" dirty="0">
              <a:solidFill>
                <a:schemeClr val="tx1"/>
              </a:solidFill>
            </a:endParaRPr>
          </a:p>
        </p:txBody>
      </p:sp>
      <p:sp>
        <p:nvSpPr>
          <p:cNvPr id="49" name="Retângulo: Cantos Arredondados 48">
            <a:hlinkClick r:id="rId3" action="ppaction://hlinksldjump"/>
            <a:extLst>
              <a:ext uri="{FF2B5EF4-FFF2-40B4-BE49-F238E27FC236}">
                <a16:creationId xmlns:a16="http://schemas.microsoft.com/office/drawing/2014/main" id="{2A157039-FD72-87EC-EFBC-FBAFC5E34B8D}"/>
              </a:ext>
            </a:extLst>
          </p:cNvPr>
          <p:cNvSpPr/>
          <p:nvPr/>
        </p:nvSpPr>
        <p:spPr>
          <a:xfrm>
            <a:off x="875543" y="3543432"/>
            <a:ext cx="5837380" cy="626728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solidFill>
                <a:schemeClr val="tx1"/>
              </a:solidFill>
            </a:endParaRPr>
          </a:p>
        </p:txBody>
      </p:sp>
      <p:sp>
        <p:nvSpPr>
          <p:cNvPr id="51" name="Retângulo: Cantos Arredondados 50">
            <a:hlinkClick r:id="rId3" action="ppaction://hlinksldjump"/>
            <a:extLst>
              <a:ext uri="{FF2B5EF4-FFF2-40B4-BE49-F238E27FC236}">
                <a16:creationId xmlns:a16="http://schemas.microsoft.com/office/drawing/2014/main" id="{2F77DC8E-002A-0121-F8D8-6F4E3CEE8026}"/>
              </a:ext>
            </a:extLst>
          </p:cNvPr>
          <p:cNvSpPr/>
          <p:nvPr/>
        </p:nvSpPr>
        <p:spPr>
          <a:xfrm>
            <a:off x="875543" y="4363979"/>
            <a:ext cx="5837380" cy="626728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sp>
        <p:nvSpPr>
          <p:cNvPr id="53" name="Retângulo: Cantos Arredondados 52">
            <a:hlinkClick r:id="rId4" action="ppaction://hlinksldjump"/>
            <a:extLst>
              <a:ext uri="{FF2B5EF4-FFF2-40B4-BE49-F238E27FC236}">
                <a16:creationId xmlns:a16="http://schemas.microsoft.com/office/drawing/2014/main" id="{4BFE4529-800A-B44A-35C8-3446D4782DDE}"/>
              </a:ext>
            </a:extLst>
          </p:cNvPr>
          <p:cNvSpPr/>
          <p:nvPr/>
        </p:nvSpPr>
        <p:spPr>
          <a:xfrm>
            <a:off x="880300" y="5248935"/>
            <a:ext cx="5848746" cy="707886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pic>
        <p:nvPicPr>
          <p:cNvPr id="62" name="Gráfico 61" descr="Notas musicais com preenchimento sólido">
            <a:extLst>
              <a:ext uri="{FF2B5EF4-FFF2-40B4-BE49-F238E27FC236}">
                <a16:creationId xmlns:a16="http://schemas.microsoft.com/office/drawing/2014/main" id="{5D5A64F3-FE04-8D14-3C00-F836B089BF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60306" y="234462"/>
            <a:ext cx="484921" cy="422217"/>
          </a:xfrm>
          <a:prstGeom prst="rect">
            <a:avLst/>
          </a:prstGeom>
        </p:spPr>
      </p:pic>
      <p:sp>
        <p:nvSpPr>
          <p:cNvPr id="64" name="CaixaDeTexto 62">
            <a:hlinkClick r:id="rId3" action="ppaction://hlinksldjump"/>
            <a:extLst>
              <a:ext uri="{FF2B5EF4-FFF2-40B4-BE49-F238E27FC236}">
                <a16:creationId xmlns:a16="http://schemas.microsoft.com/office/drawing/2014/main" id="{BB57F03A-9862-0EBE-4831-3B9007166AC6}"/>
              </a:ext>
            </a:extLst>
          </p:cNvPr>
          <p:cNvSpPr txBox="1"/>
          <p:nvPr/>
        </p:nvSpPr>
        <p:spPr>
          <a:xfrm>
            <a:off x="1700911" y="3634700"/>
            <a:ext cx="5157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A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AO" sz="2000" noProof="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UI e UX são exactamente sinónimos em todos os contextos</a:t>
            </a:r>
          </a:p>
        </p:txBody>
      </p:sp>
      <p:sp>
        <p:nvSpPr>
          <p:cNvPr id="65" name="CaixaDeTexto 62">
            <a:hlinkClick r:id="rId3" action="ppaction://hlinksldjump"/>
            <a:extLst>
              <a:ext uri="{FF2B5EF4-FFF2-40B4-BE49-F238E27FC236}">
                <a16:creationId xmlns:a16="http://schemas.microsoft.com/office/drawing/2014/main" id="{FC4615BA-38C0-0D26-65BC-9B81C0CBBC83}"/>
              </a:ext>
            </a:extLst>
          </p:cNvPr>
          <p:cNvSpPr txBox="1"/>
          <p:nvPr/>
        </p:nvSpPr>
        <p:spPr>
          <a:xfrm>
            <a:off x="1705668" y="4477287"/>
            <a:ext cx="4876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A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AO" sz="2000" noProof="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UI é apenas programação; UX é apenas publicidade</a:t>
            </a:r>
          </a:p>
        </p:txBody>
      </p:sp>
      <p:sp>
        <p:nvSpPr>
          <p:cNvPr id="66" name="CaixaDeTexto 62">
            <a:hlinkClick r:id="rId4" action="ppaction://hlinksldjump"/>
            <a:extLst>
              <a:ext uri="{FF2B5EF4-FFF2-40B4-BE49-F238E27FC236}">
                <a16:creationId xmlns:a16="http://schemas.microsoft.com/office/drawing/2014/main" id="{329A1E92-74C2-7D34-4784-B8D316CBA996}"/>
              </a:ext>
            </a:extLst>
          </p:cNvPr>
          <p:cNvSpPr txBox="1"/>
          <p:nvPr/>
        </p:nvSpPr>
        <p:spPr>
          <a:xfrm>
            <a:off x="1700911" y="5217152"/>
            <a:ext cx="5012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A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AO" sz="2000" noProof="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UI concentra-se na interface; UX abrange a experiência global do utilizador</a:t>
            </a:r>
          </a:p>
        </p:txBody>
      </p:sp>
      <p:sp>
        <p:nvSpPr>
          <p:cNvPr id="68" name="CaixaDeTexto 67">
            <a:hlinkClick r:id="rId3" action="ppaction://hlinksldjump"/>
            <a:extLst>
              <a:ext uri="{FF2B5EF4-FFF2-40B4-BE49-F238E27FC236}">
                <a16:creationId xmlns:a16="http://schemas.microsoft.com/office/drawing/2014/main" id="{475711A3-CDA4-F8F4-98D2-4A15CE914D82}"/>
              </a:ext>
            </a:extLst>
          </p:cNvPr>
          <p:cNvSpPr txBox="1"/>
          <p:nvPr/>
        </p:nvSpPr>
        <p:spPr>
          <a:xfrm>
            <a:off x="1700911" y="2762166"/>
            <a:ext cx="4529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AO" sz="2000" noProof="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UX refere-se somente à cor dos botões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705FCA1-EA05-CFF8-95D1-503F11592972}"/>
              </a:ext>
            </a:extLst>
          </p:cNvPr>
          <p:cNvSpPr txBox="1"/>
          <p:nvPr/>
        </p:nvSpPr>
        <p:spPr>
          <a:xfrm>
            <a:off x="1252974" y="257018"/>
            <a:ext cx="2408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AO" sz="4800" b="1" noProof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Bahnschrift Condensed" panose="020B0502040204020203" pitchFamily="34" charset="0"/>
              </a:rPr>
              <a:t>Quiz </a:t>
            </a:r>
            <a:r>
              <a:rPr lang="pt-AO" sz="4800" b="1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TIC</a:t>
            </a:r>
            <a:endParaRPr lang="pt-AO" sz="4800" noProof="0" dirty="0">
              <a:latin typeface="Bahnschrift Condensed" panose="020B0502040204020203" pitchFamily="34" charset="0"/>
            </a:endParaRPr>
          </a:p>
        </p:txBody>
      </p:sp>
      <p:sp>
        <p:nvSpPr>
          <p:cNvPr id="8" name="Oval 7">
            <a:hlinkClick r:id="rId3" action="ppaction://hlinksldjump"/>
            <a:extLst>
              <a:ext uri="{FF2B5EF4-FFF2-40B4-BE49-F238E27FC236}">
                <a16:creationId xmlns:a16="http://schemas.microsoft.com/office/drawing/2014/main" id="{60DF053B-FE49-883C-A727-91CDCD0750CC}"/>
              </a:ext>
            </a:extLst>
          </p:cNvPr>
          <p:cNvSpPr/>
          <p:nvPr/>
        </p:nvSpPr>
        <p:spPr>
          <a:xfrm>
            <a:off x="1020974" y="2723525"/>
            <a:ext cx="539263" cy="515533"/>
          </a:xfrm>
          <a:prstGeom prst="ellipse">
            <a:avLst/>
          </a:prstGeom>
          <a:solidFill>
            <a:srgbClr val="00008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200" b="1" noProof="0" dirty="0">
                <a:latin typeface="Bahnschrift Condensed" panose="020B0502040204020203" pitchFamily="34" charset="0"/>
              </a:rPr>
              <a:t>A</a:t>
            </a:r>
          </a:p>
        </p:txBody>
      </p:sp>
      <p:sp>
        <p:nvSpPr>
          <p:cNvPr id="10" name="Oval 9">
            <a:hlinkClick r:id="rId3" action="ppaction://hlinksldjump"/>
            <a:extLst>
              <a:ext uri="{FF2B5EF4-FFF2-40B4-BE49-F238E27FC236}">
                <a16:creationId xmlns:a16="http://schemas.microsoft.com/office/drawing/2014/main" id="{F4137D24-1892-FE28-F92D-F8A7A88D9224}"/>
              </a:ext>
            </a:extLst>
          </p:cNvPr>
          <p:cNvSpPr/>
          <p:nvPr/>
        </p:nvSpPr>
        <p:spPr>
          <a:xfrm>
            <a:off x="1020974" y="3601688"/>
            <a:ext cx="539263" cy="515533"/>
          </a:xfrm>
          <a:prstGeom prst="ellipse">
            <a:avLst/>
          </a:prstGeom>
          <a:solidFill>
            <a:srgbClr val="00008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200" b="1" noProof="0" dirty="0">
                <a:latin typeface="Bahnschrift Condensed" panose="020B0502040204020203" pitchFamily="34" charset="0"/>
              </a:rPr>
              <a:t>B</a:t>
            </a:r>
          </a:p>
        </p:txBody>
      </p:sp>
      <p:sp>
        <p:nvSpPr>
          <p:cNvPr id="12" name="Oval 11">
            <a:hlinkClick r:id="rId3" action="ppaction://hlinksldjump"/>
            <a:extLst>
              <a:ext uri="{FF2B5EF4-FFF2-40B4-BE49-F238E27FC236}">
                <a16:creationId xmlns:a16="http://schemas.microsoft.com/office/drawing/2014/main" id="{8A12A6C6-D5D0-2770-5323-2BC91E2D0E6A}"/>
              </a:ext>
            </a:extLst>
          </p:cNvPr>
          <p:cNvSpPr/>
          <p:nvPr/>
        </p:nvSpPr>
        <p:spPr>
          <a:xfrm>
            <a:off x="1020974" y="4419576"/>
            <a:ext cx="539263" cy="515533"/>
          </a:xfrm>
          <a:prstGeom prst="ellipse">
            <a:avLst/>
          </a:prstGeom>
          <a:solidFill>
            <a:srgbClr val="00008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200" b="1" noProof="0" dirty="0">
                <a:latin typeface="Bahnschrift Condensed" panose="020B0502040204020203" pitchFamily="34" charset="0"/>
              </a:rPr>
              <a:t>C</a:t>
            </a:r>
          </a:p>
        </p:txBody>
      </p:sp>
      <p:sp>
        <p:nvSpPr>
          <p:cNvPr id="14" name="Oval 13">
            <a:hlinkClick r:id="rId4" action="ppaction://hlinksldjump"/>
            <a:extLst>
              <a:ext uri="{FF2B5EF4-FFF2-40B4-BE49-F238E27FC236}">
                <a16:creationId xmlns:a16="http://schemas.microsoft.com/office/drawing/2014/main" id="{66214CE5-66B0-CC08-CEBD-80685DB4180B}"/>
              </a:ext>
            </a:extLst>
          </p:cNvPr>
          <p:cNvSpPr/>
          <p:nvPr/>
        </p:nvSpPr>
        <p:spPr>
          <a:xfrm>
            <a:off x="1020974" y="5303513"/>
            <a:ext cx="539263" cy="515533"/>
          </a:xfrm>
          <a:prstGeom prst="ellipse">
            <a:avLst/>
          </a:prstGeom>
          <a:solidFill>
            <a:srgbClr val="00008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200" b="1" noProof="0" dirty="0">
                <a:latin typeface="Bahnschrift Condensed" panose="020B0502040204020203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271326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3501B"/>
            </a:gs>
            <a:gs pos="95000">
              <a:schemeClr val="tx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11CA18-50C0-A1A4-BF25-96AD1A969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4B404B83-27BB-C638-C0B3-434DC92B3EDD}"/>
              </a:ext>
            </a:extLst>
          </p:cNvPr>
          <p:cNvSpPr/>
          <p:nvPr/>
        </p:nvSpPr>
        <p:spPr>
          <a:xfrm>
            <a:off x="472247" y="241777"/>
            <a:ext cx="3189540" cy="8614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95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latin typeface="Bahnschrift Condensed" panose="020B0502040204020203" pitchFamily="34" charset="0"/>
            </a:endParaRPr>
          </a:p>
        </p:txBody>
      </p:sp>
      <p:pic>
        <p:nvPicPr>
          <p:cNvPr id="46" name="Gráfico 45" descr="Capelo com preenchimento sólido">
            <a:extLst>
              <a:ext uri="{FF2B5EF4-FFF2-40B4-BE49-F238E27FC236}">
                <a16:creationId xmlns:a16="http://schemas.microsoft.com/office/drawing/2014/main" id="{6CEEC258-41E2-B160-8E4E-43F6CF19D5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439" y="-28728"/>
            <a:ext cx="868378" cy="123783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2216AE3-5AC8-095D-D1AA-19EE539A6BB9}"/>
              </a:ext>
            </a:extLst>
          </p:cNvPr>
          <p:cNvSpPr txBox="1"/>
          <p:nvPr/>
        </p:nvSpPr>
        <p:spPr>
          <a:xfrm>
            <a:off x="1252974" y="257018"/>
            <a:ext cx="2408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AO" sz="4800" b="1" noProof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Bahnschrift Condensed" panose="020B0502040204020203" pitchFamily="34" charset="0"/>
              </a:rPr>
              <a:t>Quiz </a:t>
            </a:r>
            <a:r>
              <a:rPr lang="pt-AO" sz="4800" b="1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TIC</a:t>
            </a:r>
            <a:endParaRPr lang="pt-AO" sz="4800" noProof="0" dirty="0">
              <a:latin typeface="Bahnschrift Condensed" panose="020B0502040204020203" pitchFamily="34" charset="0"/>
            </a:endParaRPr>
          </a:p>
        </p:txBody>
      </p:sp>
      <p:cxnSp>
        <p:nvCxnSpPr>
          <p:cNvPr id="3" name="Conexão reta 2">
            <a:extLst>
              <a:ext uri="{FF2B5EF4-FFF2-40B4-BE49-F238E27FC236}">
                <a16:creationId xmlns:a16="http://schemas.microsoft.com/office/drawing/2014/main" id="{375D9530-F69C-9CF2-1A6F-7F19075835BA}"/>
              </a:ext>
            </a:extLst>
          </p:cNvPr>
          <p:cNvCxnSpPr/>
          <p:nvPr/>
        </p:nvCxnSpPr>
        <p:spPr>
          <a:xfrm>
            <a:off x="360814" y="1510145"/>
            <a:ext cx="11470371" cy="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1">
            <a:extLst>
              <a:ext uri="{FF2B5EF4-FFF2-40B4-BE49-F238E27FC236}">
                <a16:creationId xmlns:a16="http://schemas.microsoft.com/office/drawing/2014/main" id="{E46D3978-825B-7FE6-AA7B-591E82040D09}"/>
              </a:ext>
            </a:extLst>
          </p:cNvPr>
          <p:cNvSpPr/>
          <p:nvPr/>
        </p:nvSpPr>
        <p:spPr>
          <a:xfrm>
            <a:off x="559439" y="1811185"/>
            <a:ext cx="1241652" cy="1101437"/>
          </a:xfrm>
          <a:prstGeom prst="ellipse">
            <a:avLst/>
          </a:prstGeom>
          <a:solidFill>
            <a:srgbClr val="22C55E"/>
          </a:solidFill>
          <a:ln w="25400">
            <a:solidFill>
              <a:srgbClr val="86EFAC"/>
            </a:solidFill>
          </a:ln>
          <a:effectLst>
            <a:outerShdw blurRad="152400" dist="50800" dir="16200000" algn="bl" rotWithShape="0">
              <a:srgbClr val="22C55E">
                <a:alpha val="8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pt-AO" noProof="0" dirty="0">
              <a:latin typeface="Bahnschrift Condensed" panose="020B0502040204020203" pitchFamily="34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D914B139-8EA1-D17B-BD03-345CBF4D0E5F}"/>
              </a:ext>
            </a:extLst>
          </p:cNvPr>
          <p:cNvSpPr/>
          <p:nvPr/>
        </p:nvSpPr>
        <p:spPr>
          <a:xfrm>
            <a:off x="532017" y="3240578"/>
            <a:ext cx="6949440" cy="2133600"/>
          </a:xfrm>
          <a:prstGeom prst="roundRect">
            <a:avLst>
              <a:gd name="adj" fmla="val 6857"/>
            </a:avLst>
          </a:prstGeom>
          <a:solidFill>
            <a:srgbClr val="03200F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AO" noProof="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3CD27AF7-291C-A42E-D882-DB060E5A98A6}"/>
              </a:ext>
            </a:extLst>
          </p:cNvPr>
          <p:cNvSpPr txBox="1"/>
          <p:nvPr/>
        </p:nvSpPr>
        <p:spPr>
          <a:xfrm>
            <a:off x="864354" y="3332018"/>
            <a:ext cx="6339840" cy="19507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</a:pPr>
            <a:r>
              <a:rPr lang="pt-AO" sz="28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D)  </a:t>
            </a:r>
            <a:r>
              <a:rPr lang="pt-AO" sz="24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UI concentra-se na interface; UX abrange a experiência </a:t>
            </a:r>
          </a:p>
          <a:p>
            <a:pPr>
              <a:spcAft>
                <a:spcPts val="800"/>
              </a:spcAft>
            </a:pPr>
            <a:r>
              <a:rPr lang="pt-AO" sz="24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global do utilizador</a:t>
            </a:r>
          </a:p>
          <a:p>
            <a:pPr marL="457200" indent="-457200">
              <a:spcAft>
                <a:spcPts val="800"/>
              </a:spcAft>
              <a:buAutoNum type="alphaUcPeriod"/>
            </a:pPr>
            <a:endParaRPr lang="pt-AO" sz="2400" noProof="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  <a:p>
            <a:pPr>
              <a:spcAft>
                <a:spcPts val="800"/>
              </a:spcAft>
            </a:pPr>
            <a:r>
              <a:rPr lang="pt-AO" noProof="0" dirty="0">
                <a:latin typeface="Bahnschrift Condensed" panose="020B0502040204020203" pitchFamily="34" charset="0"/>
              </a:rPr>
              <a:t>:</a:t>
            </a:r>
            <a:r>
              <a:rPr lang="pt-AO" sz="20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UI trata dos elementos de interface; UX inclui facilidade, emoções, eficiência, confiança e contexto de uso.</a:t>
            </a:r>
            <a:endParaRPr lang="pt-AO" sz="1933" noProof="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8CCBBC20-B253-BB52-F318-2416140B7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533" y="2074272"/>
            <a:ext cx="563463" cy="575262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265A5495-0EE2-7C3B-27E1-5E2B6E41244F}"/>
              </a:ext>
            </a:extLst>
          </p:cNvPr>
          <p:cNvSpPr txBox="1"/>
          <p:nvPr/>
        </p:nvSpPr>
        <p:spPr>
          <a:xfrm>
            <a:off x="2106006" y="1728057"/>
            <a:ext cx="3726758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AO" sz="4533" b="1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PARABÉNS!</a:t>
            </a:r>
            <a:endParaRPr lang="pt-AO" sz="4533" noProof="0" dirty="0">
              <a:latin typeface="Bahnschrift Condensed" panose="020B0502040204020203" pitchFamily="34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A906C4AA-C885-4440-A1B6-8FBCA0DB83E1}"/>
              </a:ext>
            </a:extLst>
          </p:cNvPr>
          <p:cNvSpPr txBox="1"/>
          <p:nvPr/>
        </p:nvSpPr>
        <p:spPr>
          <a:xfrm>
            <a:off x="2130832" y="2424942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AO" sz="2400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Resposta correcta!</a:t>
            </a:r>
            <a:endParaRPr lang="pt-AO" sz="2400" noProof="0" dirty="0">
              <a:latin typeface="Bahnschrift Condensed" panose="020B0502040204020203" pitchFamily="34" charset="0"/>
            </a:endParaRPr>
          </a:p>
        </p:txBody>
      </p:sp>
      <p:sp>
        <p:nvSpPr>
          <p:cNvPr id="23" name="Text 7">
            <a:hlinkClick r:id="rId4" action="ppaction://hlinksldjump"/>
            <a:extLst>
              <a:ext uri="{FF2B5EF4-FFF2-40B4-BE49-F238E27FC236}">
                <a16:creationId xmlns:a16="http://schemas.microsoft.com/office/drawing/2014/main" id="{75F36489-2477-2011-746A-373D830B0E25}"/>
              </a:ext>
            </a:extLst>
          </p:cNvPr>
          <p:cNvSpPr/>
          <p:nvPr/>
        </p:nvSpPr>
        <p:spPr>
          <a:xfrm>
            <a:off x="864354" y="5911339"/>
            <a:ext cx="2438400" cy="6096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9050">
            <a:solidFill>
              <a:srgbClr val="86EFAC"/>
            </a:solidFill>
          </a:ln>
          <a:effectLst>
            <a:outerShdw blurRad="127000" dist="50800" dir="16200000" algn="bl" rotWithShape="0">
              <a:srgbClr val="86EFAC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pt-AO" sz="1867" b="1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pt-AO" sz="1867" noProof="0" dirty="0">
              <a:latin typeface="Bahnschrift Condensed" panose="020B0502040204020203" pitchFamily="34" charset="0"/>
            </a:endParaRPr>
          </a:p>
        </p:txBody>
      </p:sp>
      <p:pic>
        <p:nvPicPr>
          <p:cNvPr id="32" name="Image 3" descr="preencoded.png">
            <a:hlinkClick r:id="rId4" action="ppaction://hlinksldjump"/>
            <a:extLst>
              <a:ext uri="{FF2B5EF4-FFF2-40B4-BE49-F238E27FC236}">
                <a16:creationId xmlns:a16="http://schemas.microsoft.com/office/drawing/2014/main" id="{42DABA26-62CD-8002-3789-1360465F4B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974" y="6094219"/>
            <a:ext cx="243840" cy="243840"/>
          </a:xfrm>
          <a:prstGeom prst="rect">
            <a:avLst/>
          </a:prstGeom>
        </p:spPr>
      </p:pic>
      <p:sp>
        <p:nvSpPr>
          <p:cNvPr id="34" name="Retângulo 33">
            <a:extLst>
              <a:ext uri="{FF2B5EF4-FFF2-40B4-BE49-F238E27FC236}">
                <a16:creationId xmlns:a16="http://schemas.microsoft.com/office/drawing/2014/main" id="{A42A5B6C-E7AC-FB63-E489-99D66FB29C42}"/>
              </a:ext>
            </a:extLst>
          </p:cNvPr>
          <p:cNvSpPr/>
          <p:nvPr/>
        </p:nvSpPr>
        <p:spPr>
          <a:xfrm>
            <a:off x="7811198" y="2611438"/>
            <a:ext cx="4010634" cy="3299901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  <a:scene3d>
            <a:camera prst="obliqueTopRigh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11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95000">
              <a:schemeClr val="tx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E3EB1-B042-E80A-5460-6BFF5CB1D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6B993CFD-7541-7E24-59B2-28CEF0D96411}"/>
              </a:ext>
            </a:extLst>
          </p:cNvPr>
          <p:cNvSpPr/>
          <p:nvPr/>
        </p:nvSpPr>
        <p:spPr>
          <a:xfrm>
            <a:off x="472247" y="241777"/>
            <a:ext cx="3189540" cy="861477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95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latin typeface="Bahnschrift Condensed" panose="020B0502040204020203" pitchFamily="34" charset="0"/>
            </a:endParaRPr>
          </a:p>
        </p:txBody>
      </p:sp>
      <p:pic>
        <p:nvPicPr>
          <p:cNvPr id="46" name="Gráfico 45" descr="Capelo com preenchimento sólido">
            <a:extLst>
              <a:ext uri="{FF2B5EF4-FFF2-40B4-BE49-F238E27FC236}">
                <a16:creationId xmlns:a16="http://schemas.microsoft.com/office/drawing/2014/main" id="{5CE4ED31-16F7-4555-1C7C-698AA2EDF0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439" y="-28728"/>
            <a:ext cx="868378" cy="123783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373AF68-15E4-5474-F199-C674714C3084}"/>
              </a:ext>
            </a:extLst>
          </p:cNvPr>
          <p:cNvSpPr txBox="1"/>
          <p:nvPr/>
        </p:nvSpPr>
        <p:spPr>
          <a:xfrm>
            <a:off x="1252974" y="257018"/>
            <a:ext cx="2408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AO" sz="4800" b="1" noProof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Bahnschrift Condensed" panose="020B0502040204020203" pitchFamily="34" charset="0"/>
              </a:rPr>
              <a:t>Quiz </a:t>
            </a:r>
            <a:r>
              <a:rPr lang="pt-AO" sz="4800" b="1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TIC</a:t>
            </a:r>
            <a:endParaRPr lang="pt-AO" sz="4800" noProof="0" dirty="0">
              <a:latin typeface="Bahnschrift Condensed" panose="020B0502040204020203" pitchFamily="34" charset="0"/>
            </a:endParaRPr>
          </a:p>
        </p:txBody>
      </p:sp>
      <p:cxnSp>
        <p:nvCxnSpPr>
          <p:cNvPr id="3" name="Conexão reta 2">
            <a:extLst>
              <a:ext uri="{FF2B5EF4-FFF2-40B4-BE49-F238E27FC236}">
                <a16:creationId xmlns:a16="http://schemas.microsoft.com/office/drawing/2014/main" id="{1E5662F4-DCAF-C1B9-3060-76DDD4EC64A2}"/>
              </a:ext>
            </a:extLst>
          </p:cNvPr>
          <p:cNvCxnSpPr/>
          <p:nvPr/>
        </p:nvCxnSpPr>
        <p:spPr>
          <a:xfrm>
            <a:off x="360814" y="1510145"/>
            <a:ext cx="11470371" cy="0"/>
          </a:xfrm>
          <a:prstGeom prst="line">
            <a:avLst/>
          </a:prstGeom>
          <a:ln w="25400">
            <a:solidFill>
              <a:srgbClr val="C00000"/>
            </a:solidFill>
          </a:ln>
          <a:effectLst>
            <a:glow rad="63500">
              <a:srgbClr val="C00000">
                <a:alpha val="4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1">
            <a:extLst>
              <a:ext uri="{FF2B5EF4-FFF2-40B4-BE49-F238E27FC236}">
                <a16:creationId xmlns:a16="http://schemas.microsoft.com/office/drawing/2014/main" id="{98E87BF3-2502-3A40-69F8-FD83F809A44C}"/>
              </a:ext>
            </a:extLst>
          </p:cNvPr>
          <p:cNvSpPr/>
          <p:nvPr/>
        </p:nvSpPr>
        <p:spPr>
          <a:xfrm>
            <a:off x="559439" y="1811185"/>
            <a:ext cx="1241652" cy="1101437"/>
          </a:xfrm>
          <a:prstGeom prst="ellipse">
            <a:avLst/>
          </a:prstGeom>
          <a:solidFill>
            <a:srgbClr val="C00000"/>
          </a:solidFill>
          <a:ln w="22225">
            <a:solidFill>
              <a:schemeClr val="bg1"/>
            </a:solidFill>
          </a:ln>
          <a:effectLst>
            <a:outerShdw blurRad="152400" dist="50800" dir="16200000" algn="bl" rotWithShape="0">
              <a:srgbClr val="C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pt-AO" noProof="0" dirty="0">
              <a:latin typeface="Bahnschrift Condensed" panose="020B0502040204020203" pitchFamily="34" charset="0"/>
            </a:endParaRPr>
          </a:p>
        </p:txBody>
      </p:sp>
      <p:sp>
        <p:nvSpPr>
          <p:cNvPr id="23" name="Text 7">
            <a:hlinkClick r:id="rId3" action="ppaction://hlinksldjump"/>
            <a:extLst>
              <a:ext uri="{FF2B5EF4-FFF2-40B4-BE49-F238E27FC236}">
                <a16:creationId xmlns:a16="http://schemas.microsoft.com/office/drawing/2014/main" id="{14C55E6C-4FF2-DD6D-3D9A-E0261E02D99B}"/>
              </a:ext>
            </a:extLst>
          </p:cNvPr>
          <p:cNvSpPr/>
          <p:nvPr/>
        </p:nvSpPr>
        <p:spPr>
          <a:xfrm>
            <a:off x="847817" y="5827015"/>
            <a:ext cx="2438400" cy="6096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19050">
            <a:solidFill>
              <a:schemeClr val="bg2"/>
            </a:solidFill>
          </a:ln>
          <a:effectLst>
            <a:outerShdw blurRad="127000" dist="50800" dir="16200000" algn="bl" rotWithShape="0">
              <a:srgbClr val="C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pt-AO" sz="1867" b="1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pt-AO" sz="1867" noProof="0" dirty="0">
              <a:latin typeface="Bahnschrift Condensed" panose="020B0502040204020203" pitchFamily="34" charset="0"/>
            </a:endParaRPr>
          </a:p>
        </p:txBody>
      </p:sp>
      <p:pic>
        <p:nvPicPr>
          <p:cNvPr id="32" name="Image 3" descr="preencoded.png">
            <a:hlinkClick r:id="rId3" action="ppaction://hlinksldjump"/>
            <a:extLst>
              <a:ext uri="{FF2B5EF4-FFF2-40B4-BE49-F238E27FC236}">
                <a16:creationId xmlns:a16="http://schemas.microsoft.com/office/drawing/2014/main" id="{AD628FEF-79BF-10BE-07EF-657766A6C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897" y="6009895"/>
            <a:ext cx="243840" cy="243840"/>
          </a:xfrm>
          <a:prstGeom prst="rect">
            <a:avLst/>
          </a:prstGeom>
        </p:spPr>
      </p:pic>
      <p:sp>
        <p:nvSpPr>
          <p:cNvPr id="34" name="Retângulo 33">
            <a:extLst>
              <a:ext uri="{FF2B5EF4-FFF2-40B4-BE49-F238E27FC236}">
                <a16:creationId xmlns:a16="http://schemas.microsoft.com/office/drawing/2014/main" id="{A192C305-BF77-4B87-C3A4-DD0211FDD473}"/>
              </a:ext>
            </a:extLst>
          </p:cNvPr>
          <p:cNvSpPr/>
          <p:nvPr/>
        </p:nvSpPr>
        <p:spPr>
          <a:xfrm>
            <a:off x="7811198" y="2611438"/>
            <a:ext cx="4010634" cy="3299901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glow rad="63500">
              <a:srgbClr val="C00000">
                <a:alpha val="40000"/>
              </a:srgbClr>
            </a:glow>
          </a:effectLst>
          <a:scene3d>
            <a:camera prst="obliqueTopRigh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latin typeface="Bahnschrift Condensed" panose="020B0502040204020203" pitchFamily="34" charset="0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A68C2C1-A33F-0F17-9462-1BB52BE1F18B}"/>
              </a:ext>
            </a:extLst>
          </p:cNvPr>
          <p:cNvSpPr/>
          <p:nvPr/>
        </p:nvSpPr>
        <p:spPr>
          <a:xfrm>
            <a:off x="554697" y="3274028"/>
            <a:ext cx="6926080" cy="2073827"/>
          </a:xfrm>
          <a:prstGeom prst="roundRect">
            <a:avLst>
              <a:gd name="adj" fmla="val 6857"/>
            </a:avLst>
          </a:prstGeom>
          <a:solidFill>
            <a:srgbClr val="2A0910">
              <a:alpha val="14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AO" noProof="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9CA226C6-B2C5-B81B-300E-E3FBC58F2C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246" y="2047803"/>
            <a:ext cx="690038" cy="576450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9AFB3043-09C7-A71F-DDB8-3C3FF5881C9A}"/>
              </a:ext>
            </a:extLst>
          </p:cNvPr>
          <p:cNvSpPr txBox="1"/>
          <p:nvPr/>
        </p:nvSpPr>
        <p:spPr>
          <a:xfrm>
            <a:off x="2130832" y="1811185"/>
            <a:ext cx="33971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AO" sz="4400" b="1" noProof="0" dirty="0">
                <a:solidFill>
                  <a:srgbClr val="FF5A5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OPS!</a:t>
            </a:r>
            <a:endParaRPr lang="pt-AO" sz="4400" noProof="0" dirty="0">
              <a:latin typeface="Bahnschrift Condensed" panose="020B0502040204020203" pitchFamily="34" charset="0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00F872BB-02A3-D466-1823-8628E7B537EE}"/>
              </a:ext>
            </a:extLst>
          </p:cNvPr>
          <p:cNvSpPr txBox="1"/>
          <p:nvPr/>
        </p:nvSpPr>
        <p:spPr>
          <a:xfrm>
            <a:off x="2130832" y="2378629"/>
            <a:ext cx="4114800" cy="460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AO" sz="2400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Resposta incorrecta.</a:t>
            </a:r>
            <a:endParaRPr lang="pt-AO" sz="2400" noProof="0" dirty="0">
              <a:latin typeface="Bahnschrift Condensed" panose="020B0502040204020203" pitchFamily="34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7735DAD8-E563-9B55-C3DB-CE6849AB6BA7}"/>
              </a:ext>
            </a:extLst>
          </p:cNvPr>
          <p:cNvSpPr txBox="1"/>
          <p:nvPr/>
        </p:nvSpPr>
        <p:spPr>
          <a:xfrm>
            <a:off x="864354" y="3332018"/>
            <a:ext cx="6339840" cy="19507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</a:pPr>
            <a:r>
              <a:rPr lang="pt-AO" sz="24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D)   UI concentra-se na interface; UX abrange a experiência global do utilizador</a:t>
            </a:r>
          </a:p>
          <a:p>
            <a:pPr marL="457200" indent="-457200">
              <a:spcAft>
                <a:spcPts val="800"/>
              </a:spcAft>
              <a:buAutoNum type="alphaUcPeriod" startAt="4"/>
            </a:pPr>
            <a:endParaRPr lang="pt-AO" sz="2400" noProof="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  <a:p>
            <a:pPr>
              <a:spcAft>
                <a:spcPts val="800"/>
              </a:spcAft>
            </a:pPr>
            <a:r>
              <a:rPr lang="pt-AO" noProof="0" dirty="0">
                <a:latin typeface="Bahnschrift Condensed" panose="020B0502040204020203" pitchFamily="34" charset="0"/>
              </a:rPr>
              <a:t>:</a:t>
            </a:r>
            <a:r>
              <a:rPr lang="pt-AO" sz="20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UI trata dos elementos de interface; UX inclui facilidade, emoções, eficiência, confiança e contexto de uso.</a:t>
            </a:r>
            <a:endParaRPr lang="pt-AO" sz="1933" noProof="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83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4D8FB-99F8-665F-2C71-3DBB63F66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030F3627-F3AE-5E99-6A3A-CD4A6BB28E46}"/>
              </a:ext>
            </a:extLst>
          </p:cNvPr>
          <p:cNvSpPr/>
          <p:nvPr/>
        </p:nvSpPr>
        <p:spPr>
          <a:xfrm>
            <a:off x="234461" y="1395047"/>
            <a:ext cx="11723077" cy="5146430"/>
          </a:xfrm>
          <a:prstGeom prst="roundRect">
            <a:avLst>
              <a:gd name="adj" fmla="val 3663"/>
            </a:avLst>
          </a:prstGeom>
          <a:noFill/>
          <a:ln>
            <a:solidFill>
              <a:srgbClr val="00B0F0"/>
            </a:solidFill>
          </a:ln>
          <a:effectLst>
            <a:glow rad="101600">
              <a:srgbClr val="00B0F0">
                <a:alpha val="40000"/>
              </a:srgbClr>
            </a:glow>
            <a:outerShdw blurRad="50800" dist="50800" dir="5400000" algn="ctr" rotWithShape="0">
              <a:srgbClr val="00B0F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AF52C928-3BDE-89CA-42D4-CDB8BF6D92E6}"/>
              </a:ext>
            </a:extLst>
          </p:cNvPr>
          <p:cNvSpPr/>
          <p:nvPr/>
        </p:nvSpPr>
        <p:spPr>
          <a:xfrm>
            <a:off x="4415425" y="339395"/>
            <a:ext cx="2520462" cy="63304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D700"/>
              </a:gs>
              <a:gs pos="92000">
                <a:schemeClr val="tx1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600" noProof="0" dirty="0">
                <a:solidFill>
                  <a:srgbClr val="FFFF00"/>
                </a:solidFill>
                <a:effectLst>
                  <a:glow rad="38100">
                    <a:srgbClr val="FFC000">
                      <a:alpha val="84000"/>
                    </a:srgbClr>
                  </a:glow>
                  <a:outerShdw blurRad="1206500" dist="127000" dir="9000000" sx="94000" sy="94000" algn="ctr" rotWithShape="0">
                    <a:srgbClr val="FFC000">
                      <a:alpha val="98000"/>
                    </a:srgbClr>
                  </a:outerShdw>
                </a:effectLst>
                <a:latin typeface="Bahnschrift Condensed" panose="020B0502040204020203" pitchFamily="34" charset="0"/>
              </a:rPr>
              <a:t>Médio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9EA5878-AF88-BAC6-CE00-3F176BED85AC}"/>
              </a:ext>
            </a:extLst>
          </p:cNvPr>
          <p:cNvSpPr/>
          <p:nvPr/>
        </p:nvSpPr>
        <p:spPr>
          <a:xfrm>
            <a:off x="6365631" y="480646"/>
            <a:ext cx="363415" cy="361978"/>
          </a:xfrm>
          <a:prstGeom prst="ellipse">
            <a:avLst/>
          </a:prstGeom>
          <a:solidFill>
            <a:srgbClr val="FFD700"/>
          </a:solidFill>
          <a:ln>
            <a:solidFill>
              <a:srgbClr val="B886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0D47A02-E2BF-3EAF-271C-8B9C1613F40C}"/>
              </a:ext>
            </a:extLst>
          </p:cNvPr>
          <p:cNvSpPr/>
          <p:nvPr/>
        </p:nvSpPr>
        <p:spPr>
          <a:xfrm>
            <a:off x="428304" y="300562"/>
            <a:ext cx="3189540" cy="861477"/>
          </a:xfrm>
          <a:prstGeom prst="rect">
            <a:avLst/>
          </a:prstGeom>
          <a:gradFill flip="none" rotWithShape="1">
            <a:gsLst>
              <a:gs pos="0">
                <a:srgbClr val="00008D">
                  <a:alpha val="0"/>
                  <a:lumMod val="98000"/>
                  <a:lumOff val="2000"/>
                </a:srgbClr>
              </a:gs>
              <a:gs pos="95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68058134-95DA-D84C-842F-FB32A6AD19A7}"/>
              </a:ext>
            </a:extLst>
          </p:cNvPr>
          <p:cNvSpPr/>
          <p:nvPr/>
        </p:nvSpPr>
        <p:spPr>
          <a:xfrm>
            <a:off x="1524001" y="1640848"/>
            <a:ext cx="9284676" cy="763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AO" sz="2800" b="1" noProof="0" dirty="0">
                <a:effectLst>
                  <a:outerShdw blurRad="406400" dist="38100" dir="4980000" sx="99000" sy="99000" algn="tl" rotWithShape="0">
                    <a:schemeClr val="bg1">
                      <a:lumMod val="85000"/>
                    </a:schemeClr>
                  </a:outerShdw>
                </a:effectLst>
                <a:latin typeface="Bahnschrift Condensed" panose="020B0502040204020203" pitchFamily="34" charset="0"/>
              </a:rPr>
              <a:t>Um formulário apresenta mensagens de erro específicas junto ao campo incorrecto. Que vantagem existe?</a:t>
            </a:r>
            <a:endParaRPr lang="pt-AO" sz="2800" noProof="0" dirty="0">
              <a:latin typeface="Bahnschrift Condensed" panose="020B0502040204020203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D162ADA-6D84-4AB9-AD99-94C9EE289F03}"/>
              </a:ext>
            </a:extLst>
          </p:cNvPr>
          <p:cNvSpPr/>
          <p:nvPr/>
        </p:nvSpPr>
        <p:spPr>
          <a:xfrm>
            <a:off x="11403829" y="140979"/>
            <a:ext cx="597877" cy="62657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cxnSp>
        <p:nvCxnSpPr>
          <p:cNvPr id="31" name="Conexão reta 30">
            <a:extLst>
              <a:ext uri="{FF2B5EF4-FFF2-40B4-BE49-F238E27FC236}">
                <a16:creationId xmlns:a16="http://schemas.microsoft.com/office/drawing/2014/main" id="{94F1AEB1-6579-1A24-A414-09563ED54E56}"/>
              </a:ext>
            </a:extLst>
          </p:cNvPr>
          <p:cNvCxnSpPr>
            <a:cxnSpLocks/>
          </p:cNvCxnSpPr>
          <p:nvPr/>
        </p:nvCxnSpPr>
        <p:spPr>
          <a:xfrm>
            <a:off x="8656042" y="590189"/>
            <a:ext cx="351691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53ECB36C-B2E3-9972-C621-4D6C82CC0B72}"/>
              </a:ext>
            </a:extLst>
          </p:cNvPr>
          <p:cNvSpPr/>
          <p:nvPr/>
        </p:nvSpPr>
        <p:spPr>
          <a:xfrm>
            <a:off x="8327796" y="426094"/>
            <a:ext cx="328246" cy="341461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glow rad="76200">
              <a:srgbClr val="FFD700">
                <a:alpha val="34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b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85D2EA1-5965-E643-1E4F-17D475A10F4F}"/>
              </a:ext>
            </a:extLst>
          </p:cNvPr>
          <p:cNvSpPr/>
          <p:nvPr/>
        </p:nvSpPr>
        <p:spPr>
          <a:xfrm>
            <a:off x="9007733" y="426095"/>
            <a:ext cx="303054" cy="341461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b="1" noProof="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37" name="Conexão reta 36">
            <a:extLst>
              <a:ext uri="{FF2B5EF4-FFF2-40B4-BE49-F238E27FC236}">
                <a16:creationId xmlns:a16="http://schemas.microsoft.com/office/drawing/2014/main" id="{91A1C8C6-62B3-4CBC-9A1F-3CA0B70BCFC2}"/>
              </a:ext>
            </a:extLst>
          </p:cNvPr>
          <p:cNvCxnSpPr>
            <a:cxnSpLocks/>
          </p:cNvCxnSpPr>
          <p:nvPr/>
        </p:nvCxnSpPr>
        <p:spPr>
          <a:xfrm>
            <a:off x="9310787" y="596824"/>
            <a:ext cx="351691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D963D1A-D9DF-07E4-EA70-01785FE1C802}"/>
              </a:ext>
            </a:extLst>
          </p:cNvPr>
          <p:cNvSpPr/>
          <p:nvPr/>
        </p:nvSpPr>
        <p:spPr>
          <a:xfrm>
            <a:off x="9663189" y="439522"/>
            <a:ext cx="303054" cy="341461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  <a:effectLst>
            <a:glow rad="63500">
              <a:srgbClr val="FFC0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b="1" noProof="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40" name="Conexão reta 39">
            <a:extLst>
              <a:ext uri="{FF2B5EF4-FFF2-40B4-BE49-F238E27FC236}">
                <a16:creationId xmlns:a16="http://schemas.microsoft.com/office/drawing/2014/main" id="{770AAA4F-1D61-97D9-A9BC-5F038CAA4E27}"/>
              </a:ext>
            </a:extLst>
          </p:cNvPr>
          <p:cNvCxnSpPr>
            <a:cxnSpLocks/>
          </p:cNvCxnSpPr>
          <p:nvPr/>
        </p:nvCxnSpPr>
        <p:spPr>
          <a:xfrm>
            <a:off x="9966243" y="607494"/>
            <a:ext cx="351691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8229ED50-10D6-A73F-968D-6A076B5D82D5}"/>
              </a:ext>
            </a:extLst>
          </p:cNvPr>
          <p:cNvSpPr/>
          <p:nvPr/>
        </p:nvSpPr>
        <p:spPr>
          <a:xfrm>
            <a:off x="10317934" y="439522"/>
            <a:ext cx="303054" cy="341461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  <a:effectLst>
            <a:glow rad="63500">
              <a:srgbClr val="FFC0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b="1" noProof="0" dirty="0">
                <a:solidFill>
                  <a:schemeClr val="tx1"/>
                </a:solidFill>
              </a:rPr>
              <a:t>4</a:t>
            </a:r>
          </a:p>
        </p:txBody>
      </p:sp>
      <p:pic>
        <p:nvPicPr>
          <p:cNvPr id="46" name="Gráfico 45" descr="Capelo com preenchimento sólido">
            <a:extLst>
              <a:ext uri="{FF2B5EF4-FFF2-40B4-BE49-F238E27FC236}">
                <a16:creationId xmlns:a16="http://schemas.microsoft.com/office/drawing/2014/main" id="{B02815F4-D3F3-733F-7A36-27AC930F2D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439" y="-28728"/>
            <a:ext cx="868378" cy="1237834"/>
          </a:xfrm>
          <a:prstGeom prst="rect">
            <a:avLst/>
          </a:prstGeom>
        </p:spPr>
      </p:pic>
      <p:sp>
        <p:nvSpPr>
          <p:cNvPr id="47" name="Retângulo: Cantos Arredondados 46">
            <a:hlinkClick r:id="rId3" action="ppaction://hlinksldjump"/>
            <a:extLst>
              <a:ext uri="{FF2B5EF4-FFF2-40B4-BE49-F238E27FC236}">
                <a16:creationId xmlns:a16="http://schemas.microsoft.com/office/drawing/2014/main" id="{B609122C-1591-C991-8E18-A54408FE2BFE}"/>
              </a:ext>
            </a:extLst>
          </p:cNvPr>
          <p:cNvSpPr/>
          <p:nvPr/>
        </p:nvSpPr>
        <p:spPr>
          <a:xfrm>
            <a:off x="876609" y="2667928"/>
            <a:ext cx="5255626" cy="626728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AO" sz="2000" b="1" noProof="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    </a:t>
            </a:r>
          </a:p>
          <a:p>
            <a:r>
              <a:rPr lang="pt-AO" sz="2000" b="1" noProof="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      </a:t>
            </a:r>
            <a:endParaRPr lang="pt-AO" sz="2000" noProof="0" dirty="0">
              <a:solidFill>
                <a:schemeClr val="tx1"/>
              </a:solidFill>
            </a:endParaRPr>
          </a:p>
        </p:txBody>
      </p:sp>
      <p:sp>
        <p:nvSpPr>
          <p:cNvPr id="49" name="Retângulo: Cantos Arredondados 48">
            <a:hlinkClick r:id="rId3" action="ppaction://hlinksldjump"/>
            <a:extLst>
              <a:ext uri="{FF2B5EF4-FFF2-40B4-BE49-F238E27FC236}">
                <a16:creationId xmlns:a16="http://schemas.microsoft.com/office/drawing/2014/main" id="{53C5CC64-0B5D-AE43-F949-41BD556DD33D}"/>
              </a:ext>
            </a:extLst>
          </p:cNvPr>
          <p:cNvSpPr/>
          <p:nvPr/>
        </p:nvSpPr>
        <p:spPr>
          <a:xfrm>
            <a:off x="875543" y="3543432"/>
            <a:ext cx="5255626" cy="626728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solidFill>
                <a:schemeClr val="tx1"/>
              </a:solidFill>
            </a:endParaRPr>
          </a:p>
        </p:txBody>
      </p:sp>
      <p:sp>
        <p:nvSpPr>
          <p:cNvPr id="51" name="Retângulo: Cantos Arredondados 50">
            <a:hlinkClick r:id="rId4" action="ppaction://hlinksldjump"/>
            <a:extLst>
              <a:ext uri="{FF2B5EF4-FFF2-40B4-BE49-F238E27FC236}">
                <a16:creationId xmlns:a16="http://schemas.microsoft.com/office/drawing/2014/main" id="{D709A33F-A80E-4ECA-4BD8-664262B7B797}"/>
              </a:ext>
            </a:extLst>
          </p:cNvPr>
          <p:cNvSpPr/>
          <p:nvPr/>
        </p:nvSpPr>
        <p:spPr>
          <a:xfrm>
            <a:off x="875543" y="4363979"/>
            <a:ext cx="5255626" cy="626728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sp>
        <p:nvSpPr>
          <p:cNvPr id="53" name="Retângulo: Cantos Arredondados 52">
            <a:hlinkClick r:id="rId3" action="ppaction://hlinksldjump"/>
            <a:extLst>
              <a:ext uri="{FF2B5EF4-FFF2-40B4-BE49-F238E27FC236}">
                <a16:creationId xmlns:a16="http://schemas.microsoft.com/office/drawing/2014/main" id="{62901BC1-832E-1A0E-8524-B6C6EF915B61}"/>
              </a:ext>
            </a:extLst>
          </p:cNvPr>
          <p:cNvSpPr/>
          <p:nvPr/>
        </p:nvSpPr>
        <p:spPr>
          <a:xfrm>
            <a:off x="880300" y="5248935"/>
            <a:ext cx="5255626" cy="626728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pic>
        <p:nvPicPr>
          <p:cNvPr id="62" name="Gráfico 61" descr="Notas musicais com preenchimento sólido">
            <a:extLst>
              <a:ext uri="{FF2B5EF4-FFF2-40B4-BE49-F238E27FC236}">
                <a16:creationId xmlns:a16="http://schemas.microsoft.com/office/drawing/2014/main" id="{548CCCB1-C409-F177-02A7-156CBE110C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60306" y="234462"/>
            <a:ext cx="484921" cy="422217"/>
          </a:xfrm>
          <a:prstGeom prst="rect">
            <a:avLst/>
          </a:prstGeom>
        </p:spPr>
      </p:pic>
      <p:sp>
        <p:nvSpPr>
          <p:cNvPr id="64" name="CaixaDeTexto 62">
            <a:hlinkClick r:id="rId3" action="ppaction://hlinksldjump"/>
            <a:extLst>
              <a:ext uri="{FF2B5EF4-FFF2-40B4-BE49-F238E27FC236}">
                <a16:creationId xmlns:a16="http://schemas.microsoft.com/office/drawing/2014/main" id="{09B7A602-9B06-EC3A-4A84-DA4CDD71D73D}"/>
              </a:ext>
            </a:extLst>
          </p:cNvPr>
          <p:cNvSpPr txBox="1"/>
          <p:nvPr/>
        </p:nvSpPr>
        <p:spPr>
          <a:xfrm>
            <a:off x="1700911" y="3594001"/>
            <a:ext cx="4570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A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AO" sz="2400" noProof="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Impede qualquer nova tentativa</a:t>
            </a:r>
          </a:p>
        </p:txBody>
      </p:sp>
      <p:sp>
        <p:nvSpPr>
          <p:cNvPr id="65" name="CaixaDeTexto 62">
            <a:hlinkClick r:id="rId4" action="ppaction://hlinksldjump"/>
            <a:extLst>
              <a:ext uri="{FF2B5EF4-FFF2-40B4-BE49-F238E27FC236}">
                <a16:creationId xmlns:a16="http://schemas.microsoft.com/office/drawing/2014/main" id="{EB25BBF8-104A-6102-1AE5-CF45CA08C779}"/>
              </a:ext>
            </a:extLst>
          </p:cNvPr>
          <p:cNvSpPr txBox="1"/>
          <p:nvPr/>
        </p:nvSpPr>
        <p:spPr>
          <a:xfrm>
            <a:off x="1700911" y="4298357"/>
            <a:ext cx="44543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A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AO" sz="2000" noProof="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Ajuda o utilizador a identificar e corrigir o problema</a:t>
            </a:r>
          </a:p>
        </p:txBody>
      </p:sp>
      <p:sp>
        <p:nvSpPr>
          <p:cNvPr id="66" name="CaixaDeTexto 62">
            <a:hlinkClick r:id="rId3" action="ppaction://hlinksldjump"/>
            <a:extLst>
              <a:ext uri="{FF2B5EF4-FFF2-40B4-BE49-F238E27FC236}">
                <a16:creationId xmlns:a16="http://schemas.microsoft.com/office/drawing/2014/main" id="{99E3CE49-5983-980F-B1DC-4C8DA34E151A}"/>
              </a:ext>
            </a:extLst>
          </p:cNvPr>
          <p:cNvSpPr txBox="1"/>
          <p:nvPr/>
        </p:nvSpPr>
        <p:spPr>
          <a:xfrm>
            <a:off x="1700911" y="5359840"/>
            <a:ext cx="394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A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AO" sz="2000" noProof="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Substitui completamente os testes</a:t>
            </a:r>
          </a:p>
        </p:txBody>
      </p:sp>
      <p:sp>
        <p:nvSpPr>
          <p:cNvPr id="68" name="CaixaDeTexto 67">
            <a:hlinkClick r:id="rId3" action="ppaction://hlinksldjump"/>
            <a:extLst>
              <a:ext uri="{FF2B5EF4-FFF2-40B4-BE49-F238E27FC236}">
                <a16:creationId xmlns:a16="http://schemas.microsoft.com/office/drawing/2014/main" id="{B1DB6B30-1B46-F7EE-526A-220E1ED487C0}"/>
              </a:ext>
            </a:extLst>
          </p:cNvPr>
          <p:cNvSpPr txBox="1"/>
          <p:nvPr/>
        </p:nvSpPr>
        <p:spPr>
          <a:xfrm>
            <a:off x="1711892" y="2594538"/>
            <a:ext cx="41745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AO" sz="2000" noProof="0" dirty="0">
                <a:solidFill>
                  <a:schemeClr val="bg1"/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Torna a interface necessariamente mais complexa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F1FF25D-44AE-EF12-BEB4-5B47C14BA65A}"/>
              </a:ext>
            </a:extLst>
          </p:cNvPr>
          <p:cNvSpPr txBox="1"/>
          <p:nvPr/>
        </p:nvSpPr>
        <p:spPr>
          <a:xfrm>
            <a:off x="1252974" y="257018"/>
            <a:ext cx="2408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AO" sz="4800" b="1" noProof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Bahnschrift Condensed" panose="020B0502040204020203" pitchFamily="34" charset="0"/>
              </a:rPr>
              <a:t>Quiz </a:t>
            </a:r>
            <a:r>
              <a:rPr lang="pt-AO" sz="4800" b="1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TIC</a:t>
            </a:r>
            <a:endParaRPr lang="pt-AO" sz="4800" noProof="0" dirty="0">
              <a:latin typeface="Bahnschrift Condensed" panose="020B0502040204020203" pitchFamily="34" charset="0"/>
            </a:endParaRPr>
          </a:p>
        </p:txBody>
      </p:sp>
      <p:sp>
        <p:nvSpPr>
          <p:cNvPr id="8" name="Oval 7">
            <a:hlinkClick r:id="rId3" action="ppaction://hlinksldjump"/>
            <a:extLst>
              <a:ext uri="{FF2B5EF4-FFF2-40B4-BE49-F238E27FC236}">
                <a16:creationId xmlns:a16="http://schemas.microsoft.com/office/drawing/2014/main" id="{E66CB96F-BF3C-AA10-2CA9-0F747D8C4E9A}"/>
              </a:ext>
            </a:extLst>
          </p:cNvPr>
          <p:cNvSpPr/>
          <p:nvPr/>
        </p:nvSpPr>
        <p:spPr>
          <a:xfrm>
            <a:off x="1020974" y="2723525"/>
            <a:ext cx="539263" cy="515533"/>
          </a:xfrm>
          <a:prstGeom prst="ellipse">
            <a:avLst/>
          </a:prstGeom>
          <a:solidFill>
            <a:srgbClr val="00008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200" b="1" noProof="0" dirty="0">
                <a:latin typeface="Bahnschrift Condensed" panose="020B0502040204020203" pitchFamily="34" charset="0"/>
              </a:rPr>
              <a:t>A</a:t>
            </a:r>
          </a:p>
        </p:txBody>
      </p:sp>
      <p:sp>
        <p:nvSpPr>
          <p:cNvPr id="10" name="Oval 9">
            <a:hlinkClick r:id="rId3" action="ppaction://hlinksldjump"/>
            <a:extLst>
              <a:ext uri="{FF2B5EF4-FFF2-40B4-BE49-F238E27FC236}">
                <a16:creationId xmlns:a16="http://schemas.microsoft.com/office/drawing/2014/main" id="{2731FD01-5DF7-C22B-1813-2A17B64414CE}"/>
              </a:ext>
            </a:extLst>
          </p:cNvPr>
          <p:cNvSpPr/>
          <p:nvPr/>
        </p:nvSpPr>
        <p:spPr>
          <a:xfrm>
            <a:off x="1020974" y="3601688"/>
            <a:ext cx="539263" cy="515533"/>
          </a:xfrm>
          <a:prstGeom prst="ellipse">
            <a:avLst/>
          </a:prstGeom>
          <a:solidFill>
            <a:srgbClr val="00008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200" b="1" noProof="0" dirty="0">
                <a:latin typeface="Bahnschrift Condensed" panose="020B0502040204020203" pitchFamily="34" charset="0"/>
              </a:rPr>
              <a:t>B</a:t>
            </a:r>
          </a:p>
        </p:txBody>
      </p:sp>
      <p:sp>
        <p:nvSpPr>
          <p:cNvPr id="12" name="Oval 11">
            <a:hlinkClick r:id="rId4" action="ppaction://hlinksldjump"/>
            <a:extLst>
              <a:ext uri="{FF2B5EF4-FFF2-40B4-BE49-F238E27FC236}">
                <a16:creationId xmlns:a16="http://schemas.microsoft.com/office/drawing/2014/main" id="{C819057B-E84C-BF91-3D58-B2F170AE1128}"/>
              </a:ext>
            </a:extLst>
          </p:cNvPr>
          <p:cNvSpPr/>
          <p:nvPr/>
        </p:nvSpPr>
        <p:spPr>
          <a:xfrm>
            <a:off x="1020974" y="4419576"/>
            <a:ext cx="539263" cy="515533"/>
          </a:xfrm>
          <a:prstGeom prst="ellipse">
            <a:avLst/>
          </a:prstGeom>
          <a:solidFill>
            <a:srgbClr val="00008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200" b="1" noProof="0" dirty="0">
                <a:latin typeface="Bahnschrift Condensed" panose="020B0502040204020203" pitchFamily="34" charset="0"/>
              </a:rPr>
              <a:t>C</a:t>
            </a:r>
          </a:p>
        </p:txBody>
      </p:sp>
      <p:sp>
        <p:nvSpPr>
          <p:cNvPr id="14" name="Oval 13">
            <a:hlinkClick r:id="rId3" action="ppaction://hlinksldjump"/>
            <a:extLst>
              <a:ext uri="{FF2B5EF4-FFF2-40B4-BE49-F238E27FC236}">
                <a16:creationId xmlns:a16="http://schemas.microsoft.com/office/drawing/2014/main" id="{59001A41-D59A-80A1-8D02-28966D0BB350}"/>
              </a:ext>
            </a:extLst>
          </p:cNvPr>
          <p:cNvSpPr/>
          <p:nvPr/>
        </p:nvSpPr>
        <p:spPr>
          <a:xfrm>
            <a:off x="1020974" y="5303513"/>
            <a:ext cx="539263" cy="515533"/>
          </a:xfrm>
          <a:prstGeom prst="ellipse">
            <a:avLst/>
          </a:prstGeom>
          <a:solidFill>
            <a:srgbClr val="00008D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3200" b="1" noProof="0" dirty="0">
                <a:latin typeface="Bahnschrift Condensed" panose="020B0502040204020203" pitchFamily="34" charset="0"/>
              </a:rPr>
              <a:t>D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373DC82-B883-846C-1A9E-69C624F5C554}"/>
              </a:ext>
            </a:extLst>
          </p:cNvPr>
          <p:cNvSpPr/>
          <p:nvPr/>
        </p:nvSpPr>
        <p:spPr>
          <a:xfrm>
            <a:off x="7210511" y="2404322"/>
            <a:ext cx="3738840" cy="3667866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</p:spTree>
    <p:extLst>
      <p:ext uri="{BB962C8B-B14F-4D97-AF65-F5344CB8AC3E}">
        <p14:creationId xmlns:p14="http://schemas.microsoft.com/office/powerpoint/2010/main" val="578500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3501B"/>
            </a:gs>
            <a:gs pos="95000">
              <a:schemeClr val="tx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314B0-75EE-2092-9BE3-FC942F385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BE16F6B6-83EC-70C4-7F40-48BB30132A67}"/>
              </a:ext>
            </a:extLst>
          </p:cNvPr>
          <p:cNvSpPr/>
          <p:nvPr/>
        </p:nvSpPr>
        <p:spPr>
          <a:xfrm>
            <a:off x="472247" y="241777"/>
            <a:ext cx="3189540" cy="8614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95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latin typeface="Bahnschrift Condensed" panose="020B0502040204020203" pitchFamily="34" charset="0"/>
            </a:endParaRPr>
          </a:p>
        </p:txBody>
      </p:sp>
      <p:pic>
        <p:nvPicPr>
          <p:cNvPr id="46" name="Gráfico 45" descr="Capelo com preenchimento sólido">
            <a:extLst>
              <a:ext uri="{FF2B5EF4-FFF2-40B4-BE49-F238E27FC236}">
                <a16:creationId xmlns:a16="http://schemas.microsoft.com/office/drawing/2014/main" id="{537466F3-0B6A-3982-1C81-5D98043BCD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439" y="-28728"/>
            <a:ext cx="868378" cy="123783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F7B3F5E-4519-AA53-5EEC-D3C49CC3A2F9}"/>
              </a:ext>
            </a:extLst>
          </p:cNvPr>
          <p:cNvSpPr txBox="1"/>
          <p:nvPr/>
        </p:nvSpPr>
        <p:spPr>
          <a:xfrm>
            <a:off x="1252974" y="257018"/>
            <a:ext cx="2408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AO" sz="4800" b="1" noProof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Bahnschrift Condensed" panose="020B0502040204020203" pitchFamily="34" charset="0"/>
              </a:rPr>
              <a:t>Quiz </a:t>
            </a:r>
            <a:r>
              <a:rPr lang="pt-AO" sz="4800" b="1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TIC</a:t>
            </a:r>
            <a:endParaRPr lang="pt-AO" sz="4800" noProof="0" dirty="0">
              <a:latin typeface="Bahnschrift Condensed" panose="020B0502040204020203" pitchFamily="34" charset="0"/>
            </a:endParaRPr>
          </a:p>
        </p:txBody>
      </p:sp>
      <p:cxnSp>
        <p:nvCxnSpPr>
          <p:cNvPr id="3" name="Conexão reta 2">
            <a:extLst>
              <a:ext uri="{FF2B5EF4-FFF2-40B4-BE49-F238E27FC236}">
                <a16:creationId xmlns:a16="http://schemas.microsoft.com/office/drawing/2014/main" id="{EBBF2868-6558-9A10-80AF-64A9E87CA48A}"/>
              </a:ext>
            </a:extLst>
          </p:cNvPr>
          <p:cNvCxnSpPr/>
          <p:nvPr/>
        </p:nvCxnSpPr>
        <p:spPr>
          <a:xfrm>
            <a:off x="360814" y="1510145"/>
            <a:ext cx="11470371" cy="0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1">
            <a:extLst>
              <a:ext uri="{FF2B5EF4-FFF2-40B4-BE49-F238E27FC236}">
                <a16:creationId xmlns:a16="http://schemas.microsoft.com/office/drawing/2014/main" id="{C141AD9D-AC0B-409D-FE7C-552B7D8AE85A}"/>
              </a:ext>
            </a:extLst>
          </p:cNvPr>
          <p:cNvSpPr/>
          <p:nvPr/>
        </p:nvSpPr>
        <p:spPr>
          <a:xfrm>
            <a:off x="559439" y="1811185"/>
            <a:ext cx="1241652" cy="1101437"/>
          </a:xfrm>
          <a:prstGeom prst="ellipse">
            <a:avLst/>
          </a:prstGeom>
          <a:solidFill>
            <a:srgbClr val="22C55E"/>
          </a:solidFill>
          <a:ln w="25400">
            <a:solidFill>
              <a:srgbClr val="86EFAC"/>
            </a:solidFill>
          </a:ln>
          <a:effectLst>
            <a:outerShdw blurRad="152400" dist="50800" dir="16200000" algn="bl" rotWithShape="0">
              <a:srgbClr val="22C55E">
                <a:alpha val="8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pt-AO" noProof="0" dirty="0">
              <a:latin typeface="Bahnschrift Condensed" panose="020B0502040204020203" pitchFamily="34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25EBC99B-2FB2-B300-0F2A-5A0F0981214D}"/>
              </a:ext>
            </a:extLst>
          </p:cNvPr>
          <p:cNvSpPr/>
          <p:nvPr/>
        </p:nvSpPr>
        <p:spPr>
          <a:xfrm>
            <a:off x="532017" y="3240578"/>
            <a:ext cx="6949440" cy="2133600"/>
          </a:xfrm>
          <a:prstGeom prst="roundRect">
            <a:avLst>
              <a:gd name="adj" fmla="val 6857"/>
            </a:avLst>
          </a:prstGeom>
          <a:solidFill>
            <a:srgbClr val="03200F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AO" noProof="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FFF47301-0A02-CDAA-C646-3DBEB4AEBFAE}"/>
              </a:ext>
            </a:extLst>
          </p:cNvPr>
          <p:cNvSpPr txBox="1"/>
          <p:nvPr/>
        </p:nvSpPr>
        <p:spPr>
          <a:xfrm>
            <a:off x="864354" y="3332018"/>
            <a:ext cx="6339840" cy="19507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</a:pPr>
            <a:r>
              <a:rPr lang="pt-AO" sz="28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C)  Ajuda o utilizador a identificar e corrigir o   problema</a:t>
            </a:r>
          </a:p>
          <a:p>
            <a:pPr marL="457200" indent="-457200">
              <a:spcAft>
                <a:spcPts val="800"/>
              </a:spcAft>
              <a:buAutoNum type="alphaUcPeriod"/>
            </a:pPr>
            <a:endParaRPr lang="pt-AO" sz="2400" noProof="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  <a:p>
            <a:pPr>
              <a:spcAft>
                <a:spcPts val="800"/>
              </a:spcAft>
            </a:pPr>
            <a:r>
              <a:rPr lang="pt-AO" noProof="0" dirty="0">
                <a:latin typeface="Bahnschrift Condensed" panose="020B0502040204020203" pitchFamily="34" charset="0"/>
              </a:rPr>
              <a:t>:</a:t>
            </a:r>
            <a:r>
              <a:rPr lang="pt-AO" sz="20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Mensagens específicas e próximas do campo facilitam a recuperação de erros.</a:t>
            </a:r>
            <a:endParaRPr lang="pt-AO" sz="1933" noProof="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20D8F5D5-43E0-2B78-3064-0EF561A29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533" y="2074272"/>
            <a:ext cx="563463" cy="575262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241E12A0-B420-A2DD-ACBF-59C48B3F0494}"/>
              </a:ext>
            </a:extLst>
          </p:cNvPr>
          <p:cNvSpPr txBox="1"/>
          <p:nvPr/>
        </p:nvSpPr>
        <p:spPr>
          <a:xfrm>
            <a:off x="2106006" y="1728057"/>
            <a:ext cx="3726758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AO" sz="4533" b="1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PARABÉNS!</a:t>
            </a:r>
            <a:endParaRPr lang="pt-AO" sz="4533" noProof="0" dirty="0">
              <a:latin typeface="Bahnschrift Condensed" panose="020B0502040204020203" pitchFamily="34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2B96F4A7-6C95-8F8B-3139-540358AD83B9}"/>
              </a:ext>
            </a:extLst>
          </p:cNvPr>
          <p:cNvSpPr txBox="1"/>
          <p:nvPr/>
        </p:nvSpPr>
        <p:spPr>
          <a:xfrm>
            <a:off x="2130832" y="2424942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AO" sz="2400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Resposta correcta!</a:t>
            </a:r>
            <a:endParaRPr lang="pt-AO" sz="2400" noProof="0" dirty="0">
              <a:latin typeface="Bahnschrift Condensed" panose="020B0502040204020203" pitchFamily="34" charset="0"/>
            </a:endParaRPr>
          </a:p>
        </p:txBody>
      </p:sp>
      <p:sp>
        <p:nvSpPr>
          <p:cNvPr id="23" name="Text 7">
            <a:hlinkClick r:id="rId4" action="ppaction://hlinksldjump"/>
            <a:extLst>
              <a:ext uri="{FF2B5EF4-FFF2-40B4-BE49-F238E27FC236}">
                <a16:creationId xmlns:a16="http://schemas.microsoft.com/office/drawing/2014/main" id="{89723FE7-9465-275F-F813-B3081A2E3D7A}"/>
              </a:ext>
            </a:extLst>
          </p:cNvPr>
          <p:cNvSpPr/>
          <p:nvPr/>
        </p:nvSpPr>
        <p:spPr>
          <a:xfrm>
            <a:off x="864354" y="5911339"/>
            <a:ext cx="2438400" cy="6096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9050">
            <a:solidFill>
              <a:srgbClr val="86EFAC"/>
            </a:solidFill>
          </a:ln>
          <a:effectLst>
            <a:outerShdw blurRad="127000" dist="50800" dir="16200000" algn="bl" rotWithShape="0">
              <a:srgbClr val="86EFAC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pt-AO" sz="1867" b="1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pt-AO" sz="1867" noProof="0" dirty="0">
              <a:latin typeface="Bahnschrift Condensed" panose="020B0502040204020203" pitchFamily="34" charset="0"/>
            </a:endParaRPr>
          </a:p>
        </p:txBody>
      </p:sp>
      <p:pic>
        <p:nvPicPr>
          <p:cNvPr id="32" name="Image 3" descr="preencoded.png">
            <a:hlinkClick r:id="rId4" action="ppaction://hlinksldjump"/>
            <a:extLst>
              <a:ext uri="{FF2B5EF4-FFF2-40B4-BE49-F238E27FC236}">
                <a16:creationId xmlns:a16="http://schemas.microsoft.com/office/drawing/2014/main" id="{6A1C3FB6-409D-CCB6-2E7D-7F0425B0B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974" y="6094219"/>
            <a:ext cx="243840" cy="243840"/>
          </a:xfrm>
          <a:prstGeom prst="rect">
            <a:avLst/>
          </a:prstGeom>
        </p:spPr>
      </p:pic>
      <p:sp>
        <p:nvSpPr>
          <p:cNvPr id="34" name="Retângulo 33">
            <a:extLst>
              <a:ext uri="{FF2B5EF4-FFF2-40B4-BE49-F238E27FC236}">
                <a16:creationId xmlns:a16="http://schemas.microsoft.com/office/drawing/2014/main" id="{6C6971D7-7062-3F96-6A27-46DD67D9DD26}"/>
              </a:ext>
            </a:extLst>
          </p:cNvPr>
          <p:cNvSpPr/>
          <p:nvPr/>
        </p:nvSpPr>
        <p:spPr>
          <a:xfrm>
            <a:off x="7811198" y="2611438"/>
            <a:ext cx="4010634" cy="3299901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  <a:scene3d>
            <a:camera prst="obliqueTopRigh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992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95000">
              <a:schemeClr val="tx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3D253-809D-7C9C-2F9E-416A8D00F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6EF75F24-76B6-D048-89EB-452F41F8187F}"/>
              </a:ext>
            </a:extLst>
          </p:cNvPr>
          <p:cNvSpPr/>
          <p:nvPr/>
        </p:nvSpPr>
        <p:spPr>
          <a:xfrm>
            <a:off x="472247" y="241777"/>
            <a:ext cx="3189540" cy="861477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95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latin typeface="Bahnschrift Condensed" panose="020B0502040204020203" pitchFamily="34" charset="0"/>
            </a:endParaRPr>
          </a:p>
        </p:txBody>
      </p:sp>
      <p:pic>
        <p:nvPicPr>
          <p:cNvPr id="46" name="Gráfico 45" descr="Capelo com preenchimento sólido">
            <a:extLst>
              <a:ext uri="{FF2B5EF4-FFF2-40B4-BE49-F238E27FC236}">
                <a16:creationId xmlns:a16="http://schemas.microsoft.com/office/drawing/2014/main" id="{2CE87215-1DEC-13B4-9CE0-4D525D468F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439" y="-28728"/>
            <a:ext cx="868378" cy="123783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06995C8-74BB-CADB-F484-A0C0DAB01241}"/>
              </a:ext>
            </a:extLst>
          </p:cNvPr>
          <p:cNvSpPr txBox="1"/>
          <p:nvPr/>
        </p:nvSpPr>
        <p:spPr>
          <a:xfrm>
            <a:off x="1252974" y="257018"/>
            <a:ext cx="2408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AO" sz="4800" b="1" noProof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Bahnschrift Condensed" panose="020B0502040204020203" pitchFamily="34" charset="0"/>
              </a:rPr>
              <a:t>Quiz </a:t>
            </a:r>
            <a:r>
              <a:rPr lang="pt-AO" sz="4800" b="1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TIC</a:t>
            </a:r>
            <a:endParaRPr lang="pt-AO" sz="4800" noProof="0" dirty="0">
              <a:latin typeface="Bahnschrift Condensed" panose="020B0502040204020203" pitchFamily="34" charset="0"/>
            </a:endParaRPr>
          </a:p>
        </p:txBody>
      </p:sp>
      <p:cxnSp>
        <p:nvCxnSpPr>
          <p:cNvPr id="3" name="Conexão reta 2">
            <a:extLst>
              <a:ext uri="{FF2B5EF4-FFF2-40B4-BE49-F238E27FC236}">
                <a16:creationId xmlns:a16="http://schemas.microsoft.com/office/drawing/2014/main" id="{A7774648-1F1E-8317-8AC3-C970D5BE8670}"/>
              </a:ext>
            </a:extLst>
          </p:cNvPr>
          <p:cNvCxnSpPr/>
          <p:nvPr/>
        </p:nvCxnSpPr>
        <p:spPr>
          <a:xfrm>
            <a:off x="360814" y="1510145"/>
            <a:ext cx="11470371" cy="0"/>
          </a:xfrm>
          <a:prstGeom prst="line">
            <a:avLst/>
          </a:prstGeom>
          <a:ln w="25400">
            <a:solidFill>
              <a:srgbClr val="C00000"/>
            </a:solidFill>
          </a:ln>
          <a:effectLst>
            <a:glow rad="63500">
              <a:srgbClr val="C00000">
                <a:alpha val="4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1">
            <a:extLst>
              <a:ext uri="{FF2B5EF4-FFF2-40B4-BE49-F238E27FC236}">
                <a16:creationId xmlns:a16="http://schemas.microsoft.com/office/drawing/2014/main" id="{8665531C-C992-8D5D-1813-7BA0BA1018FC}"/>
              </a:ext>
            </a:extLst>
          </p:cNvPr>
          <p:cNvSpPr/>
          <p:nvPr/>
        </p:nvSpPr>
        <p:spPr>
          <a:xfrm>
            <a:off x="559439" y="1811185"/>
            <a:ext cx="1241652" cy="1101437"/>
          </a:xfrm>
          <a:prstGeom prst="ellipse">
            <a:avLst/>
          </a:prstGeom>
          <a:solidFill>
            <a:srgbClr val="C00000"/>
          </a:solidFill>
          <a:ln w="22225">
            <a:solidFill>
              <a:schemeClr val="bg1"/>
            </a:solidFill>
          </a:ln>
          <a:effectLst>
            <a:outerShdw blurRad="152400" dist="50800" dir="16200000" algn="bl" rotWithShape="0">
              <a:srgbClr val="C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pt-AO" noProof="0" dirty="0">
              <a:latin typeface="Bahnschrift Condensed" panose="020B0502040204020203" pitchFamily="34" charset="0"/>
            </a:endParaRPr>
          </a:p>
        </p:txBody>
      </p:sp>
      <p:sp>
        <p:nvSpPr>
          <p:cNvPr id="23" name="Text 7">
            <a:hlinkClick r:id="rId3" action="ppaction://hlinksldjump"/>
            <a:extLst>
              <a:ext uri="{FF2B5EF4-FFF2-40B4-BE49-F238E27FC236}">
                <a16:creationId xmlns:a16="http://schemas.microsoft.com/office/drawing/2014/main" id="{CA7C8AC2-388A-96E9-BA54-DE09DE283533}"/>
              </a:ext>
            </a:extLst>
          </p:cNvPr>
          <p:cNvSpPr/>
          <p:nvPr/>
        </p:nvSpPr>
        <p:spPr>
          <a:xfrm>
            <a:off x="847817" y="5827015"/>
            <a:ext cx="2438400" cy="6096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19050">
            <a:solidFill>
              <a:schemeClr val="bg2"/>
            </a:solidFill>
          </a:ln>
          <a:effectLst>
            <a:outerShdw blurRad="127000" dist="50800" dir="16200000" algn="bl" rotWithShape="0">
              <a:srgbClr val="C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pt-AO" sz="1867" b="1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pt-AO" sz="1867" noProof="0" dirty="0">
              <a:latin typeface="Bahnschrift Condensed" panose="020B0502040204020203" pitchFamily="34" charset="0"/>
            </a:endParaRPr>
          </a:p>
        </p:txBody>
      </p:sp>
      <p:pic>
        <p:nvPicPr>
          <p:cNvPr id="32" name="Image 3" descr="preencoded.png">
            <a:hlinkClick r:id="rId3" action="ppaction://hlinksldjump"/>
            <a:extLst>
              <a:ext uri="{FF2B5EF4-FFF2-40B4-BE49-F238E27FC236}">
                <a16:creationId xmlns:a16="http://schemas.microsoft.com/office/drawing/2014/main" id="{2840A0F4-AFB1-495F-8A6F-B6D83AB1A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897" y="6009895"/>
            <a:ext cx="243840" cy="243840"/>
          </a:xfrm>
          <a:prstGeom prst="rect">
            <a:avLst/>
          </a:prstGeom>
        </p:spPr>
      </p:pic>
      <p:sp>
        <p:nvSpPr>
          <p:cNvPr id="34" name="Retângulo 33">
            <a:extLst>
              <a:ext uri="{FF2B5EF4-FFF2-40B4-BE49-F238E27FC236}">
                <a16:creationId xmlns:a16="http://schemas.microsoft.com/office/drawing/2014/main" id="{68C18365-040C-1ED2-C21D-7653FCEE1EEF}"/>
              </a:ext>
            </a:extLst>
          </p:cNvPr>
          <p:cNvSpPr/>
          <p:nvPr/>
        </p:nvSpPr>
        <p:spPr>
          <a:xfrm>
            <a:off x="7811198" y="2611438"/>
            <a:ext cx="4010634" cy="3299901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glow rad="63500">
              <a:srgbClr val="C00000">
                <a:alpha val="40000"/>
              </a:srgbClr>
            </a:glow>
          </a:effectLst>
          <a:scene3d>
            <a:camera prst="obliqueTopRigh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>
              <a:latin typeface="Bahnschrift Condensed" panose="020B0502040204020203" pitchFamily="34" charset="0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1AC522C-399E-9C8C-8CD2-B5D5D1360928}"/>
              </a:ext>
            </a:extLst>
          </p:cNvPr>
          <p:cNvSpPr/>
          <p:nvPr/>
        </p:nvSpPr>
        <p:spPr>
          <a:xfrm>
            <a:off x="554697" y="3274028"/>
            <a:ext cx="6926080" cy="2073827"/>
          </a:xfrm>
          <a:prstGeom prst="roundRect">
            <a:avLst>
              <a:gd name="adj" fmla="val 6857"/>
            </a:avLst>
          </a:prstGeom>
          <a:solidFill>
            <a:srgbClr val="2A0910">
              <a:alpha val="14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AO" noProof="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FCF735B0-F8F6-7E5D-23E4-FF593BEFB9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246" y="2047803"/>
            <a:ext cx="690038" cy="576450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A4A0F928-85B4-9CAA-1073-461AE52361CD}"/>
              </a:ext>
            </a:extLst>
          </p:cNvPr>
          <p:cNvSpPr txBox="1"/>
          <p:nvPr/>
        </p:nvSpPr>
        <p:spPr>
          <a:xfrm>
            <a:off x="2130832" y="1811185"/>
            <a:ext cx="33971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AO" sz="4400" b="1" noProof="0" dirty="0">
                <a:solidFill>
                  <a:srgbClr val="FF5A5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OPS!</a:t>
            </a:r>
            <a:endParaRPr lang="pt-AO" sz="4400" noProof="0" dirty="0">
              <a:latin typeface="Bahnschrift Condensed" panose="020B0502040204020203" pitchFamily="34" charset="0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1F6D9EDD-0A00-BA21-83D3-DBABB4B9CB8D}"/>
              </a:ext>
            </a:extLst>
          </p:cNvPr>
          <p:cNvSpPr txBox="1"/>
          <p:nvPr/>
        </p:nvSpPr>
        <p:spPr>
          <a:xfrm>
            <a:off x="2130832" y="2378629"/>
            <a:ext cx="4114800" cy="460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AO" sz="2400" noProof="0" dirty="0">
                <a:solidFill>
                  <a:srgbClr val="FFFFFF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Resposta incorrecta.</a:t>
            </a:r>
            <a:endParaRPr lang="pt-AO" sz="2400" noProof="0" dirty="0">
              <a:latin typeface="Bahnschrift Condensed" panose="020B0502040204020203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B9A31F7-1CF6-FA3B-B7F8-A646C0DCEA8C}"/>
              </a:ext>
            </a:extLst>
          </p:cNvPr>
          <p:cNvSpPr txBox="1"/>
          <p:nvPr/>
        </p:nvSpPr>
        <p:spPr>
          <a:xfrm>
            <a:off x="864354" y="3332018"/>
            <a:ext cx="6339840" cy="19507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</a:pPr>
            <a:r>
              <a:rPr lang="pt-AO" sz="28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C)  Ajuda o utilizador a identificar e corrigir o   problema</a:t>
            </a:r>
          </a:p>
          <a:p>
            <a:pPr marL="457200" indent="-457200">
              <a:spcAft>
                <a:spcPts val="800"/>
              </a:spcAft>
              <a:buAutoNum type="alphaUcPeriod"/>
            </a:pPr>
            <a:endParaRPr lang="pt-AO" sz="2400" noProof="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  <a:p>
            <a:pPr>
              <a:spcAft>
                <a:spcPts val="800"/>
              </a:spcAft>
            </a:pPr>
            <a:r>
              <a:rPr lang="pt-AO" noProof="0" dirty="0">
                <a:latin typeface="Bahnschrift Condensed" panose="020B0502040204020203" pitchFamily="34" charset="0"/>
              </a:rPr>
              <a:t>:</a:t>
            </a:r>
            <a:r>
              <a:rPr lang="pt-AO" sz="2000" noProof="0" dirty="0">
                <a:solidFill>
                  <a:schemeClr val="bg1"/>
                </a:solidFill>
                <a:latin typeface="Bahnschrift Condensed" panose="020B0502040204020203" pitchFamily="34" charset="0"/>
              </a:rPr>
              <a:t>Mensagens específicas e próximas do campo facilitam a recuperação de erros.</a:t>
            </a:r>
            <a:endParaRPr lang="pt-AO" sz="1933" noProof="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017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27265-BABA-0E75-EFBA-2332A9CD2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E98CCEA1-B537-9AD4-C5C8-1A60E823C5DA}"/>
              </a:ext>
            </a:extLst>
          </p:cNvPr>
          <p:cNvSpPr/>
          <p:nvPr/>
        </p:nvSpPr>
        <p:spPr>
          <a:xfrm>
            <a:off x="428304" y="300562"/>
            <a:ext cx="3189540" cy="861477"/>
          </a:xfrm>
          <a:prstGeom prst="rect">
            <a:avLst/>
          </a:prstGeom>
          <a:gradFill flip="none" rotWithShape="1">
            <a:gsLst>
              <a:gs pos="0">
                <a:srgbClr val="00008D">
                  <a:alpha val="0"/>
                  <a:lumMod val="98000"/>
                  <a:lumOff val="2000"/>
                </a:srgbClr>
              </a:gs>
              <a:gs pos="95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pic>
        <p:nvPicPr>
          <p:cNvPr id="3" name="confetes_futuristas_caindo">
            <a:hlinkClick r:id="" action="ppaction://media"/>
            <a:extLst>
              <a:ext uri="{FF2B5EF4-FFF2-40B4-BE49-F238E27FC236}">
                <a16:creationId xmlns:a16="http://schemas.microsoft.com/office/drawing/2014/main" id="{97AFF7B0-49A4-3F9C-64E1-7D974F3EF61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38903"/>
            <a:ext cx="12126661" cy="7061468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58291250-579D-212F-BBCC-CD39A383B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5440" y="583370"/>
            <a:ext cx="1341120" cy="1341120"/>
          </a:xfrm>
          <a:prstGeom prst="rect">
            <a:avLst/>
          </a:prstGeom>
        </p:spPr>
      </p:pic>
      <p:pic>
        <p:nvPicPr>
          <p:cNvPr id="32" name="Gráfico 31" descr="Casa com preenchimento sólido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F5E449F-EE3A-ED14-EBFD-FDB5F007F9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3976" y="318988"/>
            <a:ext cx="770100" cy="542401"/>
          </a:xfrm>
          <a:prstGeom prst="rect">
            <a:avLst/>
          </a:prstGeom>
        </p:spPr>
      </p:pic>
      <p:sp>
        <p:nvSpPr>
          <p:cNvPr id="7" name="Retângulo: Cantos Diagonais Cortados 6">
            <a:extLst>
              <a:ext uri="{FF2B5EF4-FFF2-40B4-BE49-F238E27FC236}">
                <a16:creationId xmlns:a16="http://schemas.microsoft.com/office/drawing/2014/main" id="{8694E4B2-0277-45E6-1725-F19725E804C5}"/>
              </a:ext>
            </a:extLst>
          </p:cNvPr>
          <p:cNvSpPr/>
          <p:nvPr/>
        </p:nvSpPr>
        <p:spPr>
          <a:xfrm>
            <a:off x="2023074" y="1935595"/>
            <a:ext cx="7873348" cy="1360944"/>
          </a:xfrm>
          <a:prstGeom prst="snip2Diag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rgbClr val="FFFF00"/>
              </a:gs>
              <a:gs pos="15000">
                <a:schemeClr val="tx1"/>
              </a:gs>
            </a:gsLst>
            <a:path path="circle">
              <a:fillToRect r="100000" b="100000"/>
            </a:path>
            <a:tileRect l="-100000" t="-100000"/>
          </a:gradFill>
          <a:ln w="38100">
            <a:solidFill>
              <a:srgbClr val="FFFF00"/>
            </a:solidFill>
          </a:ln>
          <a:effectLst>
            <a:glow rad="101600">
              <a:srgbClr val="FFFF00">
                <a:alpha val="60000"/>
              </a:srgbClr>
            </a:glow>
            <a:innerShdw blurRad="241300">
              <a:srgbClr val="FFFF00">
                <a:alpha val="77000"/>
              </a:srgb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6000" b="1" noProof="0" dirty="0">
                <a:solidFill>
                  <a:srgbClr val="FFD700"/>
                </a:solidFill>
                <a:effectLst>
                  <a:outerShdw blurRad="114300" dist="50800" dir="15600000" sx="99000" sy="99000" rotWithShape="0">
                    <a:srgbClr val="FFEA00"/>
                  </a:outerShdw>
                </a:effectLst>
                <a:latin typeface="Bahnschrift Light Condensed" panose="020B0502040204020203" pitchFamily="34" charset="0"/>
              </a:rPr>
              <a:t>Nível Concluído</a:t>
            </a: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7259E1A-2E34-4FD5-0FD0-B7320844A9A2}"/>
              </a:ext>
            </a:extLst>
          </p:cNvPr>
          <p:cNvSpPr txBox="1"/>
          <p:nvPr/>
        </p:nvSpPr>
        <p:spPr>
          <a:xfrm>
            <a:off x="2438400" y="4535500"/>
            <a:ext cx="7315200" cy="491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pt-AO" sz="1867" noProof="0" dirty="0">
                <a:solidFill>
                  <a:srgbClr val="A9B8E8"/>
                </a:solidFill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Completaste as 4 perguntas do nível Médio. Cada pergunta é um passo para seres melhor!</a:t>
            </a:r>
            <a:endParaRPr lang="pt-AO" sz="1867" noProof="0" dirty="0">
              <a:latin typeface="Bahnschrift Condensed" panose="020B0502040204020203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B8CCEBE-2DB6-C364-3F79-D9E2AB52FFF7}"/>
              </a:ext>
            </a:extLst>
          </p:cNvPr>
          <p:cNvSpPr/>
          <p:nvPr/>
        </p:nvSpPr>
        <p:spPr>
          <a:xfrm>
            <a:off x="6634675" y="3630831"/>
            <a:ext cx="263769" cy="353054"/>
          </a:xfrm>
          <a:prstGeom prst="ellipse">
            <a:avLst/>
          </a:prstGeom>
          <a:solidFill>
            <a:srgbClr val="FFD700"/>
          </a:solidFill>
          <a:ln>
            <a:solidFill>
              <a:srgbClr val="B886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 noProof="0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161D5CE9-D558-418C-647D-89DBFF2383BF}"/>
              </a:ext>
            </a:extLst>
          </p:cNvPr>
          <p:cNvSpPr/>
          <p:nvPr/>
        </p:nvSpPr>
        <p:spPr>
          <a:xfrm>
            <a:off x="5091325" y="3561461"/>
            <a:ext cx="2009350" cy="49179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D700"/>
              </a:gs>
              <a:gs pos="92000">
                <a:schemeClr val="tx1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AO" sz="2800" noProof="0" dirty="0">
                <a:solidFill>
                  <a:srgbClr val="FFFF00"/>
                </a:solidFill>
                <a:effectLst>
                  <a:glow rad="38100">
                    <a:srgbClr val="FFC000">
                      <a:alpha val="84000"/>
                    </a:srgbClr>
                  </a:glow>
                  <a:outerShdw blurRad="1206500" dist="127000" dir="9000000" sx="94000" sy="94000" algn="ctr" rotWithShape="0">
                    <a:srgbClr val="FFC000">
                      <a:alpha val="98000"/>
                    </a:srgbClr>
                  </a:outerShdw>
                </a:effectLst>
                <a:latin typeface="Bahnschrift Condensed" panose="020B0502040204020203" pitchFamily="34" charset="0"/>
              </a:rPr>
              <a:t>Médio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49C782-8C80-E9DC-2792-7152741467B3}"/>
              </a:ext>
            </a:extLst>
          </p:cNvPr>
          <p:cNvSpPr txBox="1"/>
          <p:nvPr/>
        </p:nvSpPr>
        <p:spPr>
          <a:xfrm>
            <a:off x="1252974" y="257018"/>
            <a:ext cx="2408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AO" sz="4800" b="1" noProof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Bahnschrift Condensed" panose="020B0502040204020203" pitchFamily="34" charset="0"/>
              </a:rPr>
              <a:t>Quiz </a:t>
            </a:r>
            <a:r>
              <a:rPr lang="pt-AO" sz="4800" b="1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Bahnschrift Condensed" panose="020B0502040204020203" pitchFamily="34" charset="0"/>
              </a:rPr>
              <a:t>TIC</a:t>
            </a:r>
            <a:endParaRPr lang="pt-AO" sz="4800" noProof="0" dirty="0">
              <a:latin typeface="Bahnschrift Condensed" panose="020B0502040204020203" pitchFamily="34" charset="0"/>
            </a:endParaRPr>
          </a:p>
        </p:txBody>
      </p:sp>
      <p:pic>
        <p:nvPicPr>
          <p:cNvPr id="46" name="Gráfico 45" descr="Capelo com preenchimento sólido">
            <a:extLst>
              <a:ext uri="{FF2B5EF4-FFF2-40B4-BE49-F238E27FC236}">
                <a16:creationId xmlns:a16="http://schemas.microsoft.com/office/drawing/2014/main" id="{59F5C2F6-9E5F-340C-AE3F-CC5CA9D8D8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9439" y="-28728"/>
            <a:ext cx="868378" cy="1237834"/>
          </a:xfrm>
          <a:prstGeom prst="rect">
            <a:avLst/>
          </a:prstGeom>
        </p:spPr>
      </p:pic>
      <p:sp>
        <p:nvSpPr>
          <p:cNvPr id="17" name="Text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36E1F32-E705-7768-F067-8F8D2E540AE3}"/>
              </a:ext>
            </a:extLst>
          </p:cNvPr>
          <p:cNvSpPr/>
          <p:nvPr/>
        </p:nvSpPr>
        <p:spPr>
          <a:xfrm>
            <a:off x="2519326" y="5678309"/>
            <a:ext cx="2906114" cy="585216"/>
          </a:xfrm>
          <a:prstGeom prst="roundRect">
            <a:avLst>
              <a:gd name="adj" fmla="val 50000"/>
            </a:avLst>
          </a:prstGeom>
          <a:solidFill>
            <a:srgbClr val="0B1F5C"/>
          </a:solidFill>
          <a:ln w="1905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AO" sz="1733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Nível</a:t>
            </a:r>
            <a:endParaRPr lang="pt-AO" sz="1733" noProof="0" dirty="0"/>
          </a:p>
        </p:txBody>
      </p:sp>
      <p:pic>
        <p:nvPicPr>
          <p:cNvPr id="44" name="Gráfico 43" descr="Seta de linha: reta com preenchimento sólido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056FAC1-E0D3-22FB-EAA9-C3D3ACEC82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786062" y="5725019"/>
            <a:ext cx="300039" cy="491796"/>
          </a:xfrm>
          <a:prstGeom prst="rect">
            <a:avLst/>
          </a:prstGeom>
        </p:spPr>
      </p:pic>
      <p:sp>
        <p:nvSpPr>
          <p:cNvPr id="21" name="Text 6">
            <a:hlinkClick r:id="rId9" action="ppaction://hlinksldjump"/>
            <a:extLst>
              <a:ext uri="{FF2B5EF4-FFF2-40B4-BE49-F238E27FC236}">
                <a16:creationId xmlns:a16="http://schemas.microsoft.com/office/drawing/2014/main" id="{537FDF23-9067-A9B2-D5E5-FE9479150D97}"/>
              </a:ext>
            </a:extLst>
          </p:cNvPr>
          <p:cNvSpPr/>
          <p:nvPr/>
        </p:nvSpPr>
        <p:spPr>
          <a:xfrm>
            <a:off x="6766559" y="5678309"/>
            <a:ext cx="3048000" cy="585216"/>
          </a:xfrm>
          <a:prstGeom prst="roundRect">
            <a:avLst>
              <a:gd name="adj" fmla="val 50000"/>
            </a:avLst>
          </a:prstGeom>
          <a:solidFill>
            <a:srgbClr val="1D6BFF"/>
          </a:solidFill>
          <a:ln w="19050">
            <a:solidFill>
              <a:srgbClr val="60A5FA"/>
            </a:solidFill>
          </a:ln>
          <a:effectLst>
            <a:outerShdw blurRad="127000" dist="50800" dir="16200000" algn="bl" rotWithShape="0">
              <a:srgbClr val="60A5FA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pt-AO" sz="1733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NÍVEL</a:t>
            </a:r>
            <a:endParaRPr lang="pt-AO" sz="1733" noProof="0" dirty="0"/>
          </a:p>
        </p:txBody>
      </p:sp>
      <p:pic>
        <p:nvPicPr>
          <p:cNvPr id="23" name="Image 4" descr="preencoded.png">
            <a:hlinkClick r:id="rId9" action="ppaction://hlinksldjump"/>
            <a:extLst>
              <a:ext uri="{FF2B5EF4-FFF2-40B4-BE49-F238E27FC236}">
                <a16:creationId xmlns:a16="http://schemas.microsoft.com/office/drawing/2014/main" id="{C1D0E93E-33F4-10E7-5956-E08FA5FC60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675" y="5848997"/>
            <a:ext cx="24384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20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8776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</TotalTime>
  <Words>537</Words>
  <Application>Microsoft Office PowerPoint</Application>
  <PresentationFormat>Ecrã Panorâmico</PresentationFormat>
  <Paragraphs>127</Paragraphs>
  <Slides>14</Slides>
  <Notes>0</Notes>
  <HiddenSlides>0</HiddenSlides>
  <MMClips>1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Bahnschrift Condensed</vt:lpstr>
      <vt:lpstr>Bahnschrift Light Condensed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Elieser Hernani</dc:creator>
  <cp:lastModifiedBy>Elieser Hernani</cp:lastModifiedBy>
  <cp:revision>19</cp:revision>
  <dcterms:created xsi:type="dcterms:W3CDTF">2026-09-18T15:05:43Z</dcterms:created>
  <dcterms:modified xsi:type="dcterms:W3CDTF">2026-09-20T01:30:43Z</dcterms:modified>
</cp:coreProperties>
</file>