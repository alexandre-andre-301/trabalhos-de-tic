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pt-A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kiosk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700"/>
    <a:srgbClr val="000064"/>
    <a:srgbClr val="B8860B"/>
    <a:srgbClr val="01C3FF"/>
    <a:srgbClr val="00008D"/>
    <a:srgbClr val="E1FA4C"/>
    <a:srgbClr val="FFF8DC"/>
    <a:srgbClr val="FFEA00"/>
    <a:srgbClr val="0000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737" autoAdjust="0"/>
  </p:normalViewPr>
  <p:slideViewPr>
    <p:cSldViewPr snapToGrid="0">
      <p:cViewPr varScale="1">
        <p:scale>
          <a:sx n="69" d="100"/>
          <a:sy n="69" d="100"/>
        </p:scale>
        <p:origin x="78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EAC9A6-36A3-C0A7-A70A-56B824022D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41F0A4-FA90-CA05-7EC1-B2D1D105CE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pt-AO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D5D8AB6-4782-8D39-32A8-7BCFF3B74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B2404CF-BA28-DF12-9862-9DAF3238C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DBA1237-BA15-F7DF-A267-91305648C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1790401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63716E-0D2E-EC20-FEC1-81BEF2BBC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3316C8A-8D73-7FEA-0A76-F38C4A94F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40343DB-1145-F824-A5AC-C156D7227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7D8ED37-399D-AC50-03D8-5D067A172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4D75CA8-8621-1FA4-1D7B-23F61643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1080662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85A5CA-AC3A-33A1-ACF8-6281735D1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3E3CFBC-20B8-7189-DE6C-B85980923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06EA08A-9A65-573D-9901-2014B6E62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B511CA8-1895-8C94-C900-EF3C82CE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7444F30-6008-1B12-2BC1-10B0764F8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3831195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2477B7-B9DA-BE81-8589-83AB23462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C7C7E65-7FA5-2277-A7BA-65D1AB8FCF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1752F6C3-9886-9D8C-7497-239580494B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54AC3173-ED2C-6D47-19E0-90F1001BA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D34FFBF-4CC9-5524-6489-88053655F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351043D-C4B4-92F3-DB6D-9894D7458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2358419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8AC67F-7DC5-25EC-D7A1-99941F124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3E64EF88-A11E-7915-C6DB-6D3C25E0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C54EB34-ABE9-F22F-AC71-B7ADC55535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E8F33088-A2D6-68A2-CAF4-4A3E3AEA84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7E2A0961-9213-D397-AEA9-C52E91320A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BD4AB54D-A09F-1CD9-9F1E-79CE058F5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7A088C87-C207-6BA1-E4AD-2A2813FC2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D36B7E10-A08E-E253-A90C-6FAF89099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2956949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8D7324-BBDB-D34B-C04C-825B3D352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4AF9EC12-D61D-5740-2D43-CD42235E5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75B71ACF-DFDF-E726-1552-B4CA3941C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42E99761-2786-DC14-43E2-373C92F1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2336308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5AFAB9FF-FCE9-2D5D-0E3E-529F8C008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19B14558-C97D-9B87-379D-A5BED3FE3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C6FBD30C-4199-8DD9-A9DB-C02BC4A87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875109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74762F-C7FF-5ADB-202A-BA002454E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C407FE1-F92F-28CF-C552-BD6126F9D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47274EDD-2468-DF70-D0A6-3B536DDAA3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28E6EC66-C608-E5A1-8F2B-5774E4EEF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2920399-1F4D-FB33-5D16-FB5AE474D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B78CD35C-A405-C4FA-1570-42C9BC6FB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63040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472ED0-3D9B-3FD6-4763-3B1B01179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D059D41C-3EF4-7E40-CE9A-A097EDABEB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AO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CCF5F780-DED0-EE9F-9A37-49C0C877BA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573491B6-E716-E221-1133-CD7937E3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5FBE7BDF-0240-6C80-3CF3-8591652C2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CA3FA017-F032-BF6D-A0C8-1D1AAB0A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846580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C8817F-9809-3E56-ACA8-3B419003F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A59BC6CA-16EF-4178-4E8C-02B238478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3D1FCC8-53E6-EFC9-B32A-1E5C2E576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14A7422F-DDAC-3902-772C-2A39A4DAF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4635A9E-5187-12B2-FD54-71438F8A5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3480427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D36A5D2-31CE-0D2A-CCB2-1224D970AB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798ED8A5-31D8-4A0E-FEA0-EC348114F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D728226-5F5A-AC55-19E7-B5CA74C37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986BD9D-49D2-0026-AFD1-09ED2AEA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ED8AAE5-B220-BFF1-2B32-811F74227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2198759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0008D">
                <a:lumMod val="90000"/>
                <a:lumOff val="10000"/>
              </a:srgbClr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B3D96A18-53C9-D9D0-D021-AD61499CE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5793D802-92DA-8DB1-6758-BACC89A4E0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E534D05-1ED2-BB96-1539-4CB1A0B242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A2F8F-0666-4BA5-ACB7-38BF07C8846B}" type="datetimeFigureOut">
              <a:rPr lang="pt-AO" smtClean="0"/>
              <a:t>18/09/2026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07CB4B6-8305-62FD-58D0-D34AFE0C9E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7053897-5962-2F52-F329-29682AB98E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3843920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A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Diagonais Cortados 3">
            <a:extLst>
              <a:ext uri="{FF2B5EF4-FFF2-40B4-BE49-F238E27FC236}">
                <a16:creationId xmlns:a16="http://schemas.microsoft.com/office/drawing/2014/main" id="{5E96D700-6055-E115-BEB7-7D83936CA94C}"/>
              </a:ext>
            </a:extLst>
          </p:cNvPr>
          <p:cNvSpPr/>
          <p:nvPr/>
        </p:nvSpPr>
        <p:spPr>
          <a:xfrm>
            <a:off x="2159322" y="1558635"/>
            <a:ext cx="7873348" cy="1870364"/>
          </a:xfrm>
          <a:prstGeom prst="snip2DiagRect">
            <a:avLst>
              <a:gd name="adj1" fmla="val 50000"/>
              <a:gd name="adj2" fmla="val 50000"/>
            </a:avLst>
          </a:prstGeom>
          <a:gradFill flip="none" rotWithShape="1">
            <a:gsLst>
              <a:gs pos="0">
                <a:srgbClr val="FFFF00"/>
              </a:gs>
              <a:gs pos="15000">
                <a:schemeClr val="tx1"/>
              </a:gs>
            </a:gsLst>
            <a:path path="circle">
              <a:fillToRect r="100000" b="100000"/>
            </a:path>
            <a:tileRect l="-100000" t="-100000"/>
          </a:gradFill>
          <a:ln w="38100">
            <a:solidFill>
              <a:srgbClr val="FFFF00"/>
            </a:solidFill>
          </a:ln>
          <a:effectLst>
            <a:glow rad="101600">
              <a:srgbClr val="FFFF00">
                <a:alpha val="60000"/>
              </a:srgbClr>
            </a:glow>
            <a:innerShdw blurRad="520700">
              <a:srgbClr val="FFFF00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6000" b="1" noProof="0" dirty="0">
                <a:solidFill>
                  <a:srgbClr val="FFD700"/>
                </a:solidFill>
                <a:effectLst>
                  <a:outerShdw blurRad="114300" dist="50800" dir="15600000" sx="99000" sy="99000" rotWithShape="0">
                    <a:srgbClr val="FFEA00"/>
                  </a:outerShdw>
                </a:effectLst>
                <a:latin typeface="Bahnschrift Light Condensed" panose="020B0502040204020203" pitchFamily="34" charset="0"/>
              </a:rPr>
              <a:t>Nível Médio</a:t>
            </a:r>
          </a:p>
        </p:txBody>
      </p:sp>
      <p:pic>
        <p:nvPicPr>
          <p:cNvPr id="9" name="Gráfico 8" descr="Relâmpago com preenchimento sólido">
            <a:extLst>
              <a:ext uri="{FF2B5EF4-FFF2-40B4-BE49-F238E27FC236}">
                <a16:creationId xmlns:a16="http://schemas.microsoft.com/office/drawing/2014/main" id="{5890F193-0DD7-0592-EFE3-3FACB1252A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287775">
            <a:off x="3756471" y="2088256"/>
            <a:ext cx="914400" cy="811122"/>
          </a:xfrm>
          <a:prstGeom prst="rect">
            <a:avLst/>
          </a:prstGeom>
          <a:effectLst>
            <a:outerShdw blurRad="292100" dist="76200" dir="8580000" sx="75000" sy="75000" algn="ctr" rotWithShape="0">
              <a:srgbClr val="FFD700"/>
            </a:outerShdw>
          </a:effectLst>
        </p:spPr>
      </p:pic>
      <p:sp>
        <p:nvSpPr>
          <p:cNvPr id="7" name="Retângulo: Cantos Diagonais Cortados 6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61FA92F4-86A8-E592-93AD-2A185653B820}"/>
              </a:ext>
            </a:extLst>
          </p:cNvPr>
          <p:cNvSpPr/>
          <p:nvPr/>
        </p:nvSpPr>
        <p:spPr>
          <a:xfrm>
            <a:off x="4488868" y="4052454"/>
            <a:ext cx="3214257" cy="623455"/>
          </a:xfrm>
          <a:prstGeom prst="snip2DiagRect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E1FA4C"/>
              </a:gs>
              <a:gs pos="100000">
                <a:schemeClr val="tx1"/>
              </a:gs>
            </a:gsLst>
            <a:path path="circle">
              <a:fillToRect l="50000" t="50000" r="50000" b="50000"/>
            </a:path>
          </a:gradFill>
          <a:ln>
            <a:solidFill>
              <a:srgbClr val="FFD700"/>
            </a:solidFill>
          </a:ln>
          <a:effectLst>
            <a:glow rad="101600">
              <a:srgbClr val="E1FA4C">
                <a:alpha val="6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b="1" noProof="0" dirty="0">
                <a:solidFill>
                  <a:schemeClr val="tx1"/>
                </a:solidFill>
                <a:latin typeface="Bahnschrift Light Condensed" panose="020B0502040204020203" pitchFamily="34" charset="0"/>
              </a:rPr>
              <a:t>   Jogar!</a:t>
            </a:r>
          </a:p>
        </p:txBody>
      </p:sp>
      <p:sp>
        <p:nvSpPr>
          <p:cNvPr id="11" name="Retângulo: Cantos Diagonais Cortados 10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C392FD7-0A8E-5528-F007-1C34DCDDD679}"/>
              </a:ext>
            </a:extLst>
          </p:cNvPr>
          <p:cNvSpPr/>
          <p:nvPr/>
        </p:nvSpPr>
        <p:spPr>
          <a:xfrm>
            <a:off x="4488867" y="5299364"/>
            <a:ext cx="3214257" cy="623455"/>
          </a:xfrm>
          <a:prstGeom prst="snip2DiagRect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E1FA4C"/>
              </a:gs>
              <a:gs pos="100000">
                <a:schemeClr val="tx1"/>
              </a:gs>
            </a:gsLst>
            <a:path path="circle">
              <a:fillToRect l="50000" t="50000" r="50000" b="50000"/>
            </a:path>
          </a:gradFill>
          <a:ln>
            <a:solidFill>
              <a:srgbClr val="FFD700"/>
            </a:solidFill>
          </a:ln>
          <a:effectLst>
            <a:glow rad="101600">
              <a:srgbClr val="E1FA4C">
                <a:alpha val="6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b="1" noProof="0" dirty="0">
                <a:solidFill>
                  <a:schemeClr val="tx1"/>
                </a:solidFill>
                <a:latin typeface="Bahnschrift Light Condensed" panose="020B0502040204020203" pitchFamily="34" charset="0"/>
              </a:rPr>
              <a:t>   Início</a:t>
            </a:r>
          </a:p>
        </p:txBody>
      </p:sp>
      <p:pic>
        <p:nvPicPr>
          <p:cNvPr id="13" name="Gráfico 12" descr="Casa com preenchimento sólido">
            <a:extLst>
              <a:ext uri="{FF2B5EF4-FFF2-40B4-BE49-F238E27FC236}">
                <a16:creationId xmlns:a16="http://schemas.microsoft.com/office/drawing/2014/main" id="{036914B6-2F41-4D1E-F800-68920401C9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0763" y="5385954"/>
            <a:ext cx="637309" cy="450273"/>
          </a:xfrm>
          <a:prstGeom prst="rect">
            <a:avLst/>
          </a:prstGeom>
        </p:spPr>
      </p:pic>
      <p:pic>
        <p:nvPicPr>
          <p:cNvPr id="15" name="Gráfico 14" descr="Comando de jogo com preenchimento sólido">
            <a:extLst>
              <a:ext uri="{FF2B5EF4-FFF2-40B4-BE49-F238E27FC236}">
                <a16:creationId xmlns:a16="http://schemas.microsoft.com/office/drawing/2014/main" id="{5BE7872F-5C80-48C3-9DB4-A12E7E9704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26180" y="4121724"/>
            <a:ext cx="526473" cy="55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4438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0008D">
                <a:lumMod val="90000"/>
                <a:lumOff val="10000"/>
              </a:srgbClr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F83D14-B84B-BFDA-E463-77656176A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F812B97B-4FCC-4830-786D-C1A54DF143F1}"/>
              </a:ext>
            </a:extLst>
          </p:cNvPr>
          <p:cNvSpPr/>
          <p:nvPr/>
        </p:nvSpPr>
        <p:spPr>
          <a:xfrm>
            <a:off x="234461" y="1395047"/>
            <a:ext cx="11723077" cy="5146430"/>
          </a:xfrm>
          <a:prstGeom prst="roundRect">
            <a:avLst>
              <a:gd name="adj" fmla="val 3663"/>
            </a:avLst>
          </a:prstGeom>
          <a:noFill/>
          <a:ln>
            <a:solidFill>
              <a:srgbClr val="FFC0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B26CE0FB-6EAA-FF85-AF60-F336D8188438}"/>
              </a:ext>
            </a:extLst>
          </p:cNvPr>
          <p:cNvSpPr/>
          <p:nvPr/>
        </p:nvSpPr>
        <p:spPr>
          <a:xfrm>
            <a:off x="4415425" y="339395"/>
            <a:ext cx="2520462" cy="63304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FFD700"/>
              </a:gs>
              <a:gs pos="92000">
                <a:schemeClr val="tx1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noProof="0" dirty="0">
                <a:solidFill>
                  <a:srgbClr val="FFFF00"/>
                </a:solidFill>
                <a:effectLst>
                  <a:glow rad="38100">
                    <a:srgbClr val="FFC000">
                      <a:alpha val="84000"/>
                    </a:srgbClr>
                  </a:glow>
                  <a:outerShdw blurRad="1206500" dist="127000" dir="9000000" sx="94000" sy="94000" algn="ctr" rotWithShape="0">
                    <a:srgbClr val="FFC000">
                      <a:alpha val="98000"/>
                    </a:srgbClr>
                  </a:outerShdw>
                </a:effectLst>
                <a:latin typeface="Bahnschrift Condensed" panose="020B0502040204020203" pitchFamily="34" charset="0"/>
              </a:rPr>
              <a:t>Médio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6111304-212E-D6D2-B295-BC02838C838F}"/>
              </a:ext>
            </a:extLst>
          </p:cNvPr>
          <p:cNvSpPr/>
          <p:nvPr/>
        </p:nvSpPr>
        <p:spPr>
          <a:xfrm>
            <a:off x="6365631" y="480646"/>
            <a:ext cx="363415" cy="361978"/>
          </a:xfrm>
          <a:prstGeom prst="ellipse">
            <a:avLst/>
          </a:prstGeom>
          <a:solidFill>
            <a:srgbClr val="FFD700"/>
          </a:solidFill>
          <a:ln>
            <a:solidFill>
              <a:srgbClr val="B886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F77A31DE-CEF7-E670-4C5A-DD81645A76F8}"/>
              </a:ext>
            </a:extLst>
          </p:cNvPr>
          <p:cNvSpPr/>
          <p:nvPr/>
        </p:nvSpPr>
        <p:spPr>
          <a:xfrm>
            <a:off x="428304" y="300562"/>
            <a:ext cx="3189540" cy="861477"/>
          </a:xfrm>
          <a:prstGeom prst="rect">
            <a:avLst/>
          </a:prstGeom>
          <a:gradFill flip="none" rotWithShape="1">
            <a:gsLst>
              <a:gs pos="0">
                <a:srgbClr val="00008D">
                  <a:alpha val="0"/>
                  <a:lumMod val="98000"/>
                  <a:lumOff val="2000"/>
                </a:srgbClr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8BDCF911-D4D0-FC71-C57C-F259A6753E90}"/>
              </a:ext>
            </a:extLst>
          </p:cNvPr>
          <p:cNvSpPr/>
          <p:nvPr/>
        </p:nvSpPr>
        <p:spPr>
          <a:xfrm>
            <a:off x="6095999" y="1640846"/>
            <a:ext cx="5391169" cy="8845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sz="2400" b="1" noProof="0" dirty="0">
                <a:effectLst>
                  <a:outerShdw blurRad="406400" dist="38100" dir="4980000" sx="99000" sy="99000" algn="tl" rotWithShape="0">
                    <a:schemeClr val="bg1">
                      <a:lumMod val="85000"/>
                    </a:schemeClr>
                  </a:outerShdw>
                </a:effectLst>
                <a:latin typeface="Bahnschrift Condensed" panose="020B0502040204020203" pitchFamily="34" charset="0"/>
              </a:rPr>
              <a:t>Por que razão uma aplicação pode ser decomposta de maneiras diferentes?</a:t>
            </a:r>
            <a:endParaRPr lang="pt-AO" sz="2400" noProof="0" dirty="0">
              <a:latin typeface="Bahnschrift Condensed" panose="020B0502040204020203" pitchFamily="34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AC8B078-0FBB-8F2A-ACBF-903BA9E82431}"/>
              </a:ext>
            </a:extLst>
          </p:cNvPr>
          <p:cNvSpPr/>
          <p:nvPr/>
        </p:nvSpPr>
        <p:spPr>
          <a:xfrm>
            <a:off x="11403829" y="140979"/>
            <a:ext cx="597877" cy="62657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cxnSp>
        <p:nvCxnSpPr>
          <p:cNvPr id="31" name="Conexão reta 30">
            <a:extLst>
              <a:ext uri="{FF2B5EF4-FFF2-40B4-BE49-F238E27FC236}">
                <a16:creationId xmlns:a16="http://schemas.microsoft.com/office/drawing/2014/main" id="{2C2B14D2-4C09-8EC3-E1E8-5AEE676461BB}"/>
              </a:ext>
            </a:extLst>
          </p:cNvPr>
          <p:cNvCxnSpPr>
            <a:cxnSpLocks/>
          </p:cNvCxnSpPr>
          <p:nvPr/>
        </p:nvCxnSpPr>
        <p:spPr>
          <a:xfrm>
            <a:off x="8656042" y="590189"/>
            <a:ext cx="35169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000D27C8-0EF8-AB94-3D16-C03DF4C0839C}"/>
              </a:ext>
            </a:extLst>
          </p:cNvPr>
          <p:cNvSpPr/>
          <p:nvPr/>
        </p:nvSpPr>
        <p:spPr>
          <a:xfrm>
            <a:off x="8327796" y="426094"/>
            <a:ext cx="328246" cy="341461"/>
          </a:xfrm>
          <a:prstGeom prst="ellipse">
            <a:avLst/>
          </a:prstGeom>
          <a:solidFill>
            <a:srgbClr val="FFC000"/>
          </a:solidFill>
          <a:ln>
            <a:noFill/>
          </a:ln>
          <a:effectLst>
            <a:glow rad="76200">
              <a:srgbClr val="FFD700">
                <a:alpha val="34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18F11B3-C797-AAC7-6F15-365CC1699951}"/>
              </a:ext>
            </a:extLst>
          </p:cNvPr>
          <p:cNvSpPr/>
          <p:nvPr/>
        </p:nvSpPr>
        <p:spPr>
          <a:xfrm>
            <a:off x="9007733" y="426095"/>
            <a:ext cx="303054" cy="34146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cxnSp>
        <p:nvCxnSpPr>
          <p:cNvPr id="37" name="Conexão reta 36">
            <a:extLst>
              <a:ext uri="{FF2B5EF4-FFF2-40B4-BE49-F238E27FC236}">
                <a16:creationId xmlns:a16="http://schemas.microsoft.com/office/drawing/2014/main" id="{DCC5C93A-74C0-1A51-48D5-20F0E93AB71E}"/>
              </a:ext>
            </a:extLst>
          </p:cNvPr>
          <p:cNvCxnSpPr>
            <a:cxnSpLocks/>
          </p:cNvCxnSpPr>
          <p:nvPr/>
        </p:nvCxnSpPr>
        <p:spPr>
          <a:xfrm>
            <a:off x="9310787" y="596824"/>
            <a:ext cx="35169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D78AB7E-382F-68D3-DB37-C5B553B062E2}"/>
              </a:ext>
            </a:extLst>
          </p:cNvPr>
          <p:cNvSpPr/>
          <p:nvPr/>
        </p:nvSpPr>
        <p:spPr>
          <a:xfrm>
            <a:off x="9663189" y="439522"/>
            <a:ext cx="303054" cy="34146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cxnSp>
        <p:nvCxnSpPr>
          <p:cNvPr id="40" name="Conexão reta 39">
            <a:extLst>
              <a:ext uri="{FF2B5EF4-FFF2-40B4-BE49-F238E27FC236}">
                <a16:creationId xmlns:a16="http://schemas.microsoft.com/office/drawing/2014/main" id="{70CFE100-F40B-9B04-2270-182734221020}"/>
              </a:ext>
            </a:extLst>
          </p:cNvPr>
          <p:cNvCxnSpPr>
            <a:cxnSpLocks/>
          </p:cNvCxnSpPr>
          <p:nvPr/>
        </p:nvCxnSpPr>
        <p:spPr>
          <a:xfrm>
            <a:off x="9966243" y="607494"/>
            <a:ext cx="35169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EC7CFF1B-0819-2463-97F8-6927018F2134}"/>
              </a:ext>
            </a:extLst>
          </p:cNvPr>
          <p:cNvSpPr/>
          <p:nvPr/>
        </p:nvSpPr>
        <p:spPr>
          <a:xfrm>
            <a:off x="10320432" y="426396"/>
            <a:ext cx="303054" cy="34146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03B0875-1A13-1DFC-EF0F-72647C2F995E}"/>
              </a:ext>
            </a:extLst>
          </p:cNvPr>
          <p:cNvSpPr/>
          <p:nvPr/>
        </p:nvSpPr>
        <p:spPr>
          <a:xfrm>
            <a:off x="993628" y="1712111"/>
            <a:ext cx="3856892" cy="4569900"/>
          </a:xfrm>
          <a:prstGeom prst="roundRect">
            <a:avLst>
              <a:gd name="adj" fmla="val 7548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BA63C5A4-7BA8-B8D0-6A19-B34C0376E6C9}"/>
              </a:ext>
            </a:extLst>
          </p:cNvPr>
          <p:cNvSpPr txBox="1"/>
          <p:nvPr/>
        </p:nvSpPr>
        <p:spPr>
          <a:xfrm>
            <a:off x="1296682" y="234462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Dário</a:t>
            </a:r>
            <a:r>
              <a:rPr lang="pt-AO" sz="4800" noProof="0" dirty="0">
                <a:latin typeface="Bahnschrift Condensed" panose="020B0502040204020203" pitchFamily="34" charset="0"/>
              </a:rPr>
              <a:t> </a:t>
            </a:r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170DB68A-A13E-13D8-137C-818525DFA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71EF2995-D221-90F6-35EB-5DCAC9F8A7C1}"/>
              </a:ext>
            </a:extLst>
          </p:cNvPr>
          <p:cNvSpPr/>
          <p:nvPr/>
        </p:nvSpPr>
        <p:spPr>
          <a:xfrm>
            <a:off x="6030073" y="2711353"/>
            <a:ext cx="5255626" cy="626728"/>
          </a:xfrm>
          <a:prstGeom prst="roundRect">
            <a:avLst>
              <a:gd name="adj" fmla="val 50000"/>
            </a:avLst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b="1" noProof="0" dirty="0">
                <a:solidFill>
                  <a:schemeClr val="tx1"/>
                </a:solidFill>
                <a:latin typeface="Bahnschrift Condensed" panose="020B0502040204020203" pitchFamily="34" charset="0"/>
              </a:rPr>
              <a:t>     </a:t>
            </a:r>
          </a:p>
          <a:p>
            <a:r>
              <a:rPr lang="pt-AO" b="1" noProof="0" dirty="0">
                <a:solidFill>
                  <a:schemeClr val="tx1"/>
                </a:solidFill>
                <a:latin typeface="Bahnschrift Condensed" panose="020B0502040204020203" pitchFamily="34" charset="0"/>
              </a:rPr>
              <a:t>       </a:t>
            </a:r>
            <a:endParaRPr lang="pt-AO" noProof="0" dirty="0">
              <a:solidFill>
                <a:schemeClr val="tx1"/>
              </a:solidFill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900A404D-D965-06A9-1EF9-75007A35F619}"/>
              </a:ext>
            </a:extLst>
          </p:cNvPr>
          <p:cNvSpPr/>
          <p:nvPr/>
        </p:nvSpPr>
        <p:spPr>
          <a:xfrm>
            <a:off x="6053518" y="3636213"/>
            <a:ext cx="5255626" cy="626728"/>
          </a:xfrm>
          <a:prstGeom prst="roundRect">
            <a:avLst>
              <a:gd name="adj" fmla="val 50000"/>
            </a:avLst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solidFill>
                <a:schemeClr val="tx1"/>
              </a:solidFill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B3508729-C864-007A-58FB-6B277E018B30}"/>
              </a:ext>
            </a:extLst>
          </p:cNvPr>
          <p:cNvSpPr/>
          <p:nvPr/>
        </p:nvSpPr>
        <p:spPr>
          <a:xfrm>
            <a:off x="6057930" y="4515964"/>
            <a:ext cx="5255626" cy="626728"/>
          </a:xfrm>
          <a:prstGeom prst="roundRect">
            <a:avLst>
              <a:gd name="adj" fmla="val 50000"/>
            </a:avLst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53" name="Retângulo: Cantos Arredondados 52">
            <a:extLst>
              <a:ext uri="{FF2B5EF4-FFF2-40B4-BE49-F238E27FC236}">
                <a16:creationId xmlns:a16="http://schemas.microsoft.com/office/drawing/2014/main" id="{136BBD73-079F-D63B-AB6A-8C4CE32B0396}"/>
              </a:ext>
            </a:extLst>
          </p:cNvPr>
          <p:cNvSpPr/>
          <p:nvPr/>
        </p:nvSpPr>
        <p:spPr>
          <a:xfrm>
            <a:off x="6028229" y="5430077"/>
            <a:ext cx="5255626" cy="626728"/>
          </a:xfrm>
          <a:prstGeom prst="roundRect">
            <a:avLst>
              <a:gd name="adj" fmla="val 50000"/>
            </a:avLst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617E577-FF73-11C1-211F-71DDA7C87142}"/>
              </a:ext>
            </a:extLst>
          </p:cNvPr>
          <p:cNvSpPr/>
          <p:nvPr/>
        </p:nvSpPr>
        <p:spPr>
          <a:xfrm>
            <a:off x="6132235" y="2758420"/>
            <a:ext cx="466791" cy="50049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b="1" noProof="0" dirty="0">
                <a:latin typeface="Bahnschrift Condensed" panose="020B0502040204020203" pitchFamily="34" charset="0"/>
              </a:rPr>
              <a:t>A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4AFEA23-16BC-DB1C-2595-33CE89EF3C78}"/>
              </a:ext>
            </a:extLst>
          </p:cNvPr>
          <p:cNvSpPr/>
          <p:nvPr/>
        </p:nvSpPr>
        <p:spPr>
          <a:xfrm>
            <a:off x="6132235" y="3716965"/>
            <a:ext cx="466791" cy="50049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b="1" noProof="0" dirty="0">
                <a:latin typeface="Bahnschrift Condensed" panose="020B0502040204020203" pitchFamily="34" charset="0"/>
              </a:rPr>
              <a:t>B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1301DB19-6130-3A41-A45C-EE6E7B77EBBA}"/>
              </a:ext>
            </a:extLst>
          </p:cNvPr>
          <p:cNvSpPr/>
          <p:nvPr/>
        </p:nvSpPr>
        <p:spPr>
          <a:xfrm>
            <a:off x="6132235" y="4602936"/>
            <a:ext cx="466791" cy="50049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b="1" noProof="0" dirty="0">
                <a:latin typeface="Bahnschrift Condensed" panose="020B0502040204020203" pitchFamily="34" charset="0"/>
              </a:rPr>
              <a:t>C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D4AB7F9-1C1D-C6FC-2C06-361650172B7E}"/>
              </a:ext>
            </a:extLst>
          </p:cNvPr>
          <p:cNvSpPr/>
          <p:nvPr/>
        </p:nvSpPr>
        <p:spPr>
          <a:xfrm>
            <a:off x="6118172" y="5526033"/>
            <a:ext cx="466791" cy="50049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b="1" noProof="0" dirty="0">
                <a:latin typeface="Bahnschrift Condensed" panose="020B0502040204020203" pitchFamily="34" charset="0"/>
              </a:rPr>
              <a:t>D</a:t>
            </a:r>
          </a:p>
        </p:txBody>
      </p:sp>
      <p:pic>
        <p:nvPicPr>
          <p:cNvPr id="62" name="Gráfico 61" descr="Notas musicais com preenchimento sólido">
            <a:extLst>
              <a:ext uri="{FF2B5EF4-FFF2-40B4-BE49-F238E27FC236}">
                <a16:creationId xmlns:a16="http://schemas.microsoft.com/office/drawing/2014/main" id="{D133CBDB-F4EE-FE8A-5114-0FC4736538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60306" y="234462"/>
            <a:ext cx="484921" cy="422217"/>
          </a:xfrm>
          <a:prstGeom prst="rect">
            <a:avLst/>
          </a:prstGeom>
        </p:spPr>
      </p:pic>
      <p:sp>
        <p:nvSpPr>
          <p:cNvPr id="64" name="CaixaDeTexto 62">
            <a:extLst>
              <a:ext uri="{FF2B5EF4-FFF2-40B4-BE49-F238E27FC236}">
                <a16:creationId xmlns:a16="http://schemas.microsoft.com/office/drawing/2014/main" id="{9DA846BB-C802-AA62-91D5-1319CA69AE74}"/>
              </a:ext>
            </a:extLst>
          </p:cNvPr>
          <p:cNvSpPr txBox="1"/>
          <p:nvPr/>
        </p:nvSpPr>
        <p:spPr>
          <a:xfrm>
            <a:off x="6599026" y="3651743"/>
            <a:ext cx="4570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Porque cada abordagem serve um objectivo de análise diferente</a:t>
            </a:r>
          </a:p>
        </p:txBody>
      </p:sp>
      <p:sp>
        <p:nvSpPr>
          <p:cNvPr id="65" name="CaixaDeTexto 62">
            <a:extLst>
              <a:ext uri="{FF2B5EF4-FFF2-40B4-BE49-F238E27FC236}">
                <a16:creationId xmlns:a16="http://schemas.microsoft.com/office/drawing/2014/main" id="{9DA846BB-C802-AA62-91D5-1319CA69AE74}"/>
              </a:ext>
            </a:extLst>
          </p:cNvPr>
          <p:cNvSpPr txBox="1"/>
          <p:nvPr/>
        </p:nvSpPr>
        <p:spPr>
          <a:xfrm>
            <a:off x="6572323" y="4660185"/>
            <a:ext cx="4641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Porque a interface determina sempre a arquitectura</a:t>
            </a:r>
          </a:p>
        </p:txBody>
      </p:sp>
      <p:sp>
        <p:nvSpPr>
          <p:cNvPr id="66" name="CaixaDeTexto 62">
            <a:extLst>
              <a:ext uri="{FF2B5EF4-FFF2-40B4-BE49-F238E27FC236}">
                <a16:creationId xmlns:a16="http://schemas.microsoft.com/office/drawing/2014/main" id="{9DA846BB-C802-AA62-91D5-1319CA69AE74}"/>
              </a:ext>
            </a:extLst>
          </p:cNvPr>
          <p:cNvSpPr txBox="1"/>
          <p:nvPr/>
        </p:nvSpPr>
        <p:spPr>
          <a:xfrm>
            <a:off x="6599026" y="5561280"/>
            <a:ext cx="4470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Porque os programadores não usam modelos</a:t>
            </a:r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F911B6F5-5FDB-F99E-BACA-523541F84EDF}"/>
              </a:ext>
            </a:extLst>
          </p:cNvPr>
          <p:cNvSpPr txBox="1"/>
          <p:nvPr/>
        </p:nvSpPr>
        <p:spPr>
          <a:xfrm>
            <a:off x="6603317" y="2682186"/>
            <a:ext cx="4570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AO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Porque apenas uma decomposição é cientificamente permitida</a:t>
            </a:r>
          </a:p>
        </p:txBody>
      </p:sp>
    </p:spTree>
    <p:extLst>
      <p:ext uri="{BB962C8B-B14F-4D97-AF65-F5344CB8AC3E}">
        <p14:creationId xmlns:p14="http://schemas.microsoft.com/office/powerpoint/2010/main" val="36365623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</TotalTime>
  <Words>58</Words>
  <Application>Microsoft Office PowerPoint</Application>
  <PresentationFormat>Ecrã Panorâmico</PresentationFormat>
  <Paragraphs>17</Paragraphs>
  <Slides>2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Bahnschrift Condensed</vt:lpstr>
      <vt:lpstr>Bahnschrift Light Condensed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Elieser Hernani</dc:creator>
  <cp:lastModifiedBy>Elieser Hernani</cp:lastModifiedBy>
  <cp:revision>1</cp:revision>
  <dcterms:created xsi:type="dcterms:W3CDTF">2026-09-18T15:05:43Z</dcterms:created>
  <dcterms:modified xsi:type="dcterms:W3CDTF">2026-09-18T23:09:26Z</dcterms:modified>
</cp:coreProperties>
</file>