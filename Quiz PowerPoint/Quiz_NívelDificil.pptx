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 ao Nível Difícil. Começar! → pergunta 1 (slide 2). VOLTAR → último slide visto (só funciona quando este slide é aberto a partir de outro, por exemplo o menu de níveis).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correcta: B) Está activa a opção Ao clicar com o rato
Origem: Banco de Perguntas, nível Difícil, n.º 2 (Sistemas de autor e desenvolvimento de aplicações).
Enunciado resumido e opções reformuladas para caber no cartão; imagem própria a ilustrar o painel Avançar Diapositivo.
Explicação: Com esta caixa marcada, um clique em qualquer parte do slide avança sempre e ignora as respostas. Por isso desliga-se logo no início, em Transições, para todo o ficheiro.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correcta: D) Uma hiperligação muda de slide, mas não guarda nem soma valores
Origem: Banco de Perguntas, nível Difícil, n.º 3 (Sistemas de autor e desenvolvimento de aplicações).
Enunciado reformulado em cenário de grupo; opções resumidas para caber no cartão.
Explicação: Uma hiperligação é só navegação: troca de slide, mas não conta nada. Para somar pontos é preciso uma variável, que só existe com VBA ou outra lógica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correcta: A) Falta um nome acessível para a função
Origem: Banco de Perguntas, nível Difícil, n.º 8 (IA, UX e acessibilidade).
Enunciado resumido e opções encurtadas para caber no cartão; imagem própria a ilustrar a barra de ícones e o painel de propriedades.
Explicação: Um ícone sozinho nem sempre chega: quem usa leitor de ecrã, ou não reconhece aquele símbolo, fica sem saber o que o botão faz. Um nome acessível resolve isto para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correcta: C) Maior probabilidade de apagar dados por engano
Origem: Banco de Perguntas, nível Difícil, n.º 12 (IA, UX e acessibilidade).
Opção correcta encurtada (a razão passa para a explicação) para caber no cartão.
Explicação: Uma acção que não se desfaz facilmente deve destacar-se pela cor, pela posição, ou exigir confirmação. Sem essa diferença, o erro é só uma questão de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7" Type="http://schemas.openxmlformats.org/officeDocument/2006/relationships/slide" Target="slide1.xm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4.xml"/><Relationship Id="rId7" Type="http://schemas.openxmlformats.org/officeDocument/2006/relationships/slide" Target="slide3.xml"/><Relationship Id="rId9" Type="http://schemas.openxmlformats.org/officeDocument/2006/relationships/slide" Target="slide4.xml"/><Relationship Id="rId11" Type="http://schemas.openxmlformats.org/officeDocument/2006/relationships/slide" Target="slide4.xml"/><Relationship Id="rId14" Type="http://schemas.openxmlformats.org/officeDocument/2006/relationships/slide" Target="slide1.xml"/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8" Type="http://schemas.openxmlformats.org/officeDocument/2006/relationships/image" Target="../media/image-2-6.png"/><Relationship Id="rId10" Type="http://schemas.openxmlformats.org/officeDocument/2006/relationships/image" Target="../media/image-2-7.png"/><Relationship Id="rId12" Type="http://schemas.openxmlformats.org/officeDocument/2006/relationships/image" Target="../media/image-2-8.png"/><Relationship Id="rId13" Type="http://schemas.openxmlformats.org/officeDocument/2006/relationships/image" Target="../media/image-2-9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" Target="slide5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" Target="slide2.xml"/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7.xml"/><Relationship Id="rId7" Type="http://schemas.openxmlformats.org/officeDocument/2006/relationships/slide" Target="slide7.xml"/><Relationship Id="rId9" Type="http://schemas.openxmlformats.org/officeDocument/2006/relationships/slide" Target="slide7.xml"/><Relationship Id="rId11" Type="http://schemas.openxmlformats.org/officeDocument/2006/relationships/slide" Target="slide6.xml"/><Relationship Id="rId14" Type="http://schemas.openxmlformats.org/officeDocument/2006/relationships/slide" Target="slide1.xm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image" Target="../media/image-5-5.png"/><Relationship Id="rId8" Type="http://schemas.openxmlformats.org/officeDocument/2006/relationships/image" Target="../media/image-5-6.png"/><Relationship Id="rId10" Type="http://schemas.openxmlformats.org/officeDocument/2006/relationships/image" Target="../media/image-5-7.png"/><Relationship Id="rId12" Type="http://schemas.openxmlformats.org/officeDocument/2006/relationships/image" Target="../media/image-5-8.png"/><Relationship Id="rId13" Type="http://schemas.openxmlformats.org/officeDocument/2006/relationships/image" Target="../media/image-5-9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" Target="slide8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" Target="slide5.xml"/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9.xml"/><Relationship Id="rId7" Type="http://schemas.openxmlformats.org/officeDocument/2006/relationships/slide" Target="slide10.xml"/><Relationship Id="rId9" Type="http://schemas.openxmlformats.org/officeDocument/2006/relationships/slide" Target="slide10.xml"/><Relationship Id="rId11" Type="http://schemas.openxmlformats.org/officeDocument/2006/relationships/slide" Target="slide10.xml"/><Relationship Id="rId14" Type="http://schemas.openxmlformats.org/officeDocument/2006/relationships/slide" Target="slide1.xml"/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image" Target="../media/image-8-5.png"/><Relationship Id="rId8" Type="http://schemas.openxmlformats.org/officeDocument/2006/relationships/image" Target="../media/image-8-6.png"/><Relationship Id="rId10" Type="http://schemas.openxmlformats.org/officeDocument/2006/relationships/image" Target="../media/image-8-7.png"/><Relationship Id="rId12" Type="http://schemas.openxmlformats.org/officeDocument/2006/relationships/image" Target="../media/image-8-8.png"/><Relationship Id="rId13" Type="http://schemas.openxmlformats.org/officeDocument/2006/relationships/image" Target="../media/image-8-9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" Target="slide11.xm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" Target="slide8.xm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13.xml"/><Relationship Id="rId7" Type="http://schemas.openxmlformats.org/officeDocument/2006/relationships/slide" Target="slide13.xml"/><Relationship Id="rId9" Type="http://schemas.openxmlformats.org/officeDocument/2006/relationships/slide" Target="slide12.xml"/><Relationship Id="rId11" Type="http://schemas.openxmlformats.org/officeDocument/2006/relationships/slide" Target="slide13.xml"/><Relationship Id="rId14" Type="http://schemas.openxmlformats.org/officeDocument/2006/relationships/slide" Target="slide1.xml"/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6" Type="http://schemas.openxmlformats.org/officeDocument/2006/relationships/image" Target="../media/image-11-5.png"/><Relationship Id="rId8" Type="http://schemas.openxmlformats.org/officeDocument/2006/relationships/image" Target="../media/image-11-6.png"/><Relationship Id="rId10" Type="http://schemas.openxmlformats.org/officeDocument/2006/relationships/image" Target="../media/image-11-7.png"/><Relationship Id="rId12" Type="http://schemas.openxmlformats.org/officeDocument/2006/relationships/image" Target="../media/image-11-8.png"/><Relationship Id="rId13" Type="http://schemas.openxmlformats.org/officeDocument/2006/relationships/image" Target="../media/image-11-9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" Target="slide14.xml"/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" Target="slide11.xm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" Target="slide1.xml"/><Relationship Id="rId9" Type="http://schemas.openxmlformats.org/officeDocument/2006/relationships/slide" Target="slide2.xml"/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7" Type="http://schemas.openxmlformats.org/officeDocument/2006/relationships/image" Target="../media/image-14-6.png"/><Relationship Id="rId8" Type="http://schemas.openxmlformats.org/officeDocument/2006/relationships/image" Target="../media/image-14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51560"/>
            <a:ext cx="7315200" cy="1417320"/>
          </a:xfrm>
          <a:custGeom>
            <a:avLst/>
            <a:gdLst/>
            <a:ahLst/>
            <a:cxnLst/>
            <a:rect l="l" t="t" r="r" b="b"/>
            <a:pathLst>
              <a:path w="7315200" h="1417320">
                <a:moveTo>
                  <a:pt x="0" y="708660"/>
                </a:moveTo>
                <a:lnTo>
                  <a:pt x="685800" y="0"/>
                </a:lnTo>
                <a:lnTo>
                  <a:pt x="6629400" y="0"/>
                </a:lnTo>
                <a:lnTo>
                  <a:pt x="7315200" y="708660"/>
                </a:lnTo>
                <a:lnTo>
                  <a:pt x="6629400" y="1417320"/>
                </a:lnTo>
                <a:lnTo>
                  <a:pt x="685800" y="1417320"/>
                </a:lnTo>
                <a:close/>
              </a:path>
            </a:pathLst>
          </a:custGeom>
          <a:solidFill>
            <a:srgbClr val="000000"/>
          </a:solidFill>
          <a:ln w="31750">
            <a:solidFill>
              <a:srgbClr val="EF4444"/>
            </a:solidFill>
            <a:prstDash val="solid"/>
          </a:ln>
          <a:effectLst>
            <a:outerShdw sx="100000" sy="100000" kx="0" ky="0" algn="bl" rotWithShape="0" blurRad="203200" dist="50800" dir="16200000">
              <a:srgbClr val="EF4444">
                <a:alpha val="8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3619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105156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bem-vindo(a) ao Nível Difícil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perguntas  ·  Analisa o caso e justifica a escolha.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34640" y="3520440"/>
            <a:ext cx="3474720" cy="685800"/>
          </a:xfrm>
          <a:custGeom>
            <a:avLst/>
            <a:gdLst/>
            <a:ahLst/>
            <a:cxnLst/>
            <a:rect l="l" t="t" r="r" b="b"/>
            <a:pathLst>
              <a:path w="3474720" h="685800">
                <a:moveTo>
                  <a:pt x="0" y="342900"/>
                </a:moveTo>
                <a:lnTo>
                  <a:pt x="320040" y="0"/>
                </a:lnTo>
                <a:lnTo>
                  <a:pt x="3154680" y="0"/>
                </a:lnTo>
                <a:lnTo>
                  <a:pt x="3474720" y="342900"/>
                </a:lnTo>
                <a:lnTo>
                  <a:pt x="3154680" y="685800"/>
                </a:lnTo>
                <a:lnTo>
                  <a:pt x="320040" y="685800"/>
                </a:lnTo>
                <a:close/>
              </a:path>
            </a:pathLst>
          </a:custGeom>
          <a:solidFill>
            <a:srgbClr val="DC2626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203200" dist="50800" dir="16200000">
              <a:srgbClr val="FCA5A5">
                <a:alpha val="8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834640" y="35204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Começar!</a:t>
            </a:r>
            <a:endParaRPr lang="en-US" sz="2200" dirty="0"/>
          </a:p>
        </p:txBody>
      </p:sp>
      <p:pic>
        <p:nvPicPr>
          <p:cNvPr id="8" name="Image 1" descr="preencoded.png">
            <a:hlinkClick r:id="rId4" tooltip="Começar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520440"/>
            <a:ext cx="3474720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11" name="Image 3" descr="preencoded.png">
            <a:hlinkClick r:id="" tooltip="VOLTAR" action="ppaction://hlinkshowjump?jump=lastslideviewe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886200" y="2468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A0910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46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endParaRPr lang="en-US" sz="1300" dirty="0"/>
          </a:p>
        </p:txBody>
      </p:sp>
      <p:pic>
        <p:nvPicPr>
          <p:cNvPr id="6" name="Image 1" descr="img/dificil_avancar_diapositiv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3566160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51960" y="8229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hiperligações do quiz estão certas, mas um clique em qualquer parte do slide avança sempre para o seguinte. Qual é a causa estrutural mais provável?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251960" y="2194560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43400" y="227685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ficheiro foi exportado em PDF</a:t>
            </a:r>
            <a:endParaRPr lang="en-US" sz="1300" dirty="0"/>
          </a:p>
        </p:txBody>
      </p:sp>
      <p:pic>
        <p:nvPicPr>
          <p:cNvPr id="11" name="Image 2" descr="preencoded.png">
            <a:hlinkClick r:id="rId5" tooltip="Opção A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94560"/>
            <a:ext cx="443484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51960" y="2706624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43400" y="2788920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2706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activa a opção Ao clicar com o rato</a:t>
            </a:r>
            <a:endParaRPr lang="en-US" sz="1300" dirty="0"/>
          </a:p>
        </p:txBody>
      </p:sp>
      <p:pic>
        <p:nvPicPr>
          <p:cNvPr id="15" name="Image 3" descr="preencoded.png">
            <a:hlinkClick r:id="rId7" tooltip="Opção B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706624"/>
            <a:ext cx="443484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51960" y="3218688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343400" y="3300984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4754880" y="3218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som de erro é mais curto que o de acerto</a:t>
            </a:r>
            <a:endParaRPr lang="en-US" sz="1300" dirty="0"/>
          </a:p>
        </p:txBody>
      </p:sp>
      <p:pic>
        <p:nvPicPr>
          <p:cNvPr id="19" name="Image 4" descr="preencoded.png">
            <a:hlinkClick r:id="rId9" tooltip="Opção C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3218688"/>
            <a:ext cx="4434840" cy="4572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251960" y="3730752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343400" y="381304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4754880" y="3730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tem mais de doze slides</a:t>
            </a:r>
            <a:endParaRPr lang="en-US" sz="1300" dirty="0"/>
          </a:p>
        </p:txBody>
      </p:sp>
      <p:pic>
        <p:nvPicPr>
          <p:cNvPr id="23" name="Image 5" descr="preencoded.png">
            <a:hlinkClick r:id="rId11" tooltip="Opção D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1960" y="3730752"/>
            <a:ext cx="443484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26" name="Image 7" descr="preencoded.png">
            <a:hlinkClick r:id="rId14" tooltip="VOLTAR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sx="100000" sy="100000" kx="0" ky="0" algn="bl" rotWithShape="0" blurRad="152400" dist="50800" dir="1620000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Está activa a opção Ao clicar com o rato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esta caixa marcada, um clique em qualquer parte do slide avança sempre e ignora as respostas. Por isso desliga-se logo no início, em Transições, para todo o ficheiro.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0E7A38">
              <a:alpha val="70000"/>
            </a:srgbClr>
          </a:solidFill>
          <a:ln w="38100">
            <a:solidFill>
              <a:srgbClr val="4ADE80"/>
            </a:solidFill>
            <a:prstDash val="solid"/>
          </a:ln>
          <a:effectLst>
            <a:outerShdw sx="100000" sy="100000" kx="0" ky="0" algn="bl" rotWithShape="0" blurRad="254000" dist="50800" dir="16200000">
              <a:srgbClr val="22C55E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28800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sx="100000" sy="100000" kx="0" ky="0" algn="bl" rotWithShape="0" blurRad="127000" dist="50800" dir="1620000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Próxima pergunta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18288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CA5A5"/>
            </a:solidFill>
          </a:ln>
          <a:effectLst>
            <a:outerShdw sx="100000" sy="100000" kx="0" ky="0" algn="bl" rotWithShape="0" blurRad="152400" dist="50800" dir="16200000">
              <a:srgbClr val="EF4444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2A091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correcta é a B. Está activa a opção Ao clicar com o rato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esta caixa marcada, um clique em qualquer parte do slide avança sempre e ignora as respostas. Por isso desliga-se logo no início, em Transições, para todo o ficheiro.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7A1020">
              <a:alpha val="70000"/>
            </a:srgbClr>
          </a:solidFill>
          <a:ln w="38100">
            <a:solidFill>
              <a:srgbClr val="FF6B7A"/>
            </a:solidFill>
            <a:prstDash val="solid"/>
          </a:ln>
          <a:effectLst>
            <a:outerShdw sx="100000" sy="100000" kx="0" ky="0" algn="bl" rotWithShape="0" blurRad="254000" dist="50800" dir="16200000">
              <a:srgbClr val="EF4444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83080"/>
            <a:ext cx="1097280" cy="1097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9050">
            <a:solidFill>
              <a:srgbClr val="FCA5A5"/>
            </a:solidFill>
          </a:ln>
          <a:effectLst>
            <a:outerShdw sx="100000" sy="100000" kx="0" ky="0" algn="bl" rotWithShape="0" blurRad="127000" dist="50800" dir="16200000">
              <a:srgbClr val="FCA5A5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NOVAMENTE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Tentar novamente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37744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886200" y="2468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A0910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46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0B1F5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097280"/>
            <a:ext cx="594360" cy="594360"/>
          </a:xfrm>
          <a:prstGeom prst="ellipse">
            <a:avLst/>
          </a:prstGeom>
          <a:solidFill>
            <a:srgbClr val="1D4ED8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2435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86868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elemento do grupo quer mostrar quantos pontos o utilizador fez no ecrã final, usando apenas hiperligações normais entre slides. Por que é que essa ideia, sozinha, não chega?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57200" y="210312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218541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hiperligações só podem ser criadas a partir de imagens</a:t>
            </a:r>
            <a:endParaRPr lang="en-US" sz="1500" dirty="0"/>
          </a:p>
        </p:txBody>
      </p:sp>
      <p:pic>
        <p:nvPicPr>
          <p:cNvPr id="13" name="Image 2" descr="preencoded.png">
            <a:hlinkClick r:id="rId5" tooltip="Opção A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03120"/>
            <a:ext cx="82296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7200" y="2633472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66928" y="271576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5156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PowerPoint apaga as hiperligações a partir do décimo slide</a:t>
            </a:r>
            <a:endParaRPr lang="en-US" sz="1500" dirty="0"/>
          </a:p>
        </p:txBody>
      </p:sp>
      <p:pic>
        <p:nvPicPr>
          <p:cNvPr id="17" name="Image 3" descr="preencoded.png">
            <a:hlinkClick r:id="rId7" tooltip="Opção B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33472"/>
            <a:ext cx="82296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3163824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66928" y="3246120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051560" y="31638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pontuação só pode ser guardada dentro de um ficheiro de som</a:t>
            </a:r>
            <a:endParaRPr lang="en-US" sz="1500" dirty="0"/>
          </a:p>
        </p:txBody>
      </p:sp>
      <p:pic>
        <p:nvPicPr>
          <p:cNvPr id="21" name="Image 4" descr="preencoded.png">
            <a:hlinkClick r:id="rId9" tooltip="Opção C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63824"/>
            <a:ext cx="8229600" cy="457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7200" y="3694176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66928" y="3776472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051560" y="36941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hiperligação muda de slide, mas não guarda nem soma valores</a:t>
            </a:r>
            <a:endParaRPr lang="en-US" sz="1500" dirty="0"/>
          </a:p>
        </p:txBody>
      </p:sp>
      <p:pic>
        <p:nvPicPr>
          <p:cNvPr id="25" name="Image 5" descr="preencoded.png">
            <a:hlinkClick r:id="rId11" tooltip="Opção D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94176"/>
            <a:ext cx="82296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28" name="Image 7" descr="preencoded.png">
            <a:hlinkClick r:id="rId14" tooltip="VOLTAR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sx="100000" sy="100000" kx="0" ky="0" algn="bl" rotWithShape="0" blurRad="152400" dist="50800" dir="1620000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Uma hiperligação muda de slide, mas não guarda nem soma valores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hiperligação é só navegação: troca de slide, mas não conta nada. Para somar pontos é preciso uma variável, que só existe com VBA ou outra lógica extra.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0E7A38">
              <a:alpha val="70000"/>
            </a:srgbClr>
          </a:solidFill>
          <a:ln w="38100">
            <a:solidFill>
              <a:srgbClr val="4ADE80"/>
            </a:solidFill>
            <a:prstDash val="solid"/>
          </a:ln>
          <a:effectLst>
            <a:outerShdw sx="100000" sy="100000" kx="0" ky="0" algn="bl" rotWithShape="0" blurRad="254000" dist="50800" dir="16200000">
              <a:srgbClr val="22C55E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28800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sx="100000" sy="100000" kx="0" ky="0" algn="bl" rotWithShape="0" blurRad="127000" dist="50800" dir="1620000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Próxima pergunta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18288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CA5A5"/>
            </a:solidFill>
          </a:ln>
          <a:effectLst>
            <a:outerShdw sx="100000" sy="100000" kx="0" ky="0" algn="bl" rotWithShape="0" blurRad="152400" dist="50800" dir="16200000">
              <a:srgbClr val="EF4444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2A091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correcta é a D. Uma hiperligação muda de slide, mas não guarda nem soma valores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hiperligação é só navegação: troca de slide, mas não conta nada. Para somar pontos é preciso uma variável, que só existe com VBA ou outra lógica extra.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7A1020">
              <a:alpha val="70000"/>
            </a:srgbClr>
          </a:solidFill>
          <a:ln w="38100">
            <a:solidFill>
              <a:srgbClr val="FF6B7A"/>
            </a:solidFill>
            <a:prstDash val="solid"/>
          </a:ln>
          <a:effectLst>
            <a:outerShdw sx="100000" sy="100000" kx="0" ky="0" algn="bl" rotWithShape="0" blurRad="254000" dist="50800" dir="16200000">
              <a:srgbClr val="EF4444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83080"/>
            <a:ext cx="1097280" cy="1097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9050">
            <a:solidFill>
              <a:srgbClr val="FCA5A5"/>
            </a:solidFill>
          </a:ln>
          <a:effectLst>
            <a:outerShdw sx="100000" sy="100000" kx="0" ky="0" algn="bl" rotWithShape="0" blurRad="127000" dist="50800" dir="16200000">
              <a:srgbClr val="FCA5A5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NOVAMENTE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Tentar novamente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37744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886200" y="2468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A0910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46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1300" dirty="0"/>
          </a:p>
        </p:txBody>
      </p:sp>
      <p:pic>
        <p:nvPicPr>
          <p:cNvPr id="6" name="Image 1" descr="img/dificil_icone_sem_tex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3566160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51960" y="8229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usa apenas o ícone de um caixote do lixo, sem texto nem nome acessível. Qual é a análise mais completa sobre este botão?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4251960" y="2194560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43400" y="227685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um nome acessível para a função</a:t>
            </a:r>
            <a:endParaRPr lang="en-US" sz="1300" dirty="0"/>
          </a:p>
        </p:txBody>
      </p:sp>
      <p:pic>
        <p:nvPicPr>
          <p:cNvPr id="11" name="Image 2" descr="preencoded.png">
            <a:hlinkClick r:id="rId5" tooltip="Opção A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94560"/>
            <a:ext cx="443484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51960" y="2706624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43400" y="2788920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2706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preciso mais nada, o ícone chega</a:t>
            </a:r>
            <a:endParaRPr lang="en-US" sz="1300" dirty="0"/>
          </a:p>
        </p:txBody>
      </p:sp>
      <p:pic>
        <p:nvPicPr>
          <p:cNvPr id="15" name="Image 3" descr="preencoded.png">
            <a:hlinkClick r:id="rId7" tooltip="Opção B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706624"/>
            <a:ext cx="443484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51960" y="3218688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343400" y="3300984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4754880" y="3218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desaparece se o ícone for maior</a:t>
            </a:r>
            <a:endParaRPr lang="en-US" sz="1300" dirty="0"/>
          </a:p>
        </p:txBody>
      </p:sp>
      <p:pic>
        <p:nvPicPr>
          <p:cNvPr id="19" name="Image 4" descr="preencoded.png">
            <a:hlinkClick r:id="rId9" tooltip="Opção C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3218688"/>
            <a:ext cx="4434840" cy="4572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251960" y="3730752"/>
            <a:ext cx="443484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343400" y="381304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4754880" y="3730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esperar-se que o utilizador adivinhe</a:t>
            </a:r>
            <a:endParaRPr lang="en-US" sz="1300" dirty="0"/>
          </a:p>
        </p:txBody>
      </p:sp>
      <p:pic>
        <p:nvPicPr>
          <p:cNvPr id="23" name="Image 5" descr="preencoded.png">
            <a:hlinkClick r:id="rId11" tooltip="Opção D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1960" y="3730752"/>
            <a:ext cx="443484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26" name="Image 7" descr="preencoded.png">
            <a:hlinkClick r:id="rId14" tooltip="VOLTAR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sx="100000" sy="100000" kx="0" ky="0" algn="bl" rotWithShape="0" blurRad="152400" dist="50800" dir="1620000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Falta um nome acessível para a função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ícone sozinho nem sempre chega: quem usa leitor de ecrã, ou não reconhece aquele símbolo, fica sem saber o que o botão faz. Um nome acessível resolve isto para todos.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0E7A38">
              <a:alpha val="70000"/>
            </a:srgbClr>
          </a:solidFill>
          <a:ln w="38100">
            <a:solidFill>
              <a:srgbClr val="4ADE80"/>
            </a:solidFill>
            <a:prstDash val="solid"/>
          </a:ln>
          <a:effectLst>
            <a:outerShdw sx="100000" sy="100000" kx="0" ky="0" algn="bl" rotWithShape="0" blurRad="254000" dist="50800" dir="16200000">
              <a:srgbClr val="22C55E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28800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sx="100000" sy="100000" kx="0" ky="0" algn="bl" rotWithShape="0" blurRad="127000" dist="50800" dir="1620000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Próxima pergunta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18288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CA5A5"/>
            </a:solidFill>
          </a:ln>
          <a:effectLst>
            <a:outerShdw sx="100000" sy="100000" kx="0" ky="0" algn="bl" rotWithShape="0" blurRad="152400" dist="50800" dir="16200000">
              <a:srgbClr val="EF4444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2A091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correcta é a A. Falta um nome acessível para a função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ícone sozinho nem sempre chega: quem usa leitor de ecrã, ou não reconhece aquele símbolo, fica sem saber o que o botão faz. Um nome acessível resolve isto para todos.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7A1020">
              <a:alpha val="70000"/>
            </a:srgbClr>
          </a:solidFill>
          <a:ln w="38100">
            <a:solidFill>
              <a:srgbClr val="FF6B7A"/>
            </a:solidFill>
            <a:prstDash val="solid"/>
          </a:ln>
          <a:effectLst>
            <a:outerShdw sx="100000" sy="100000" kx="0" ky="0" algn="bl" rotWithShape="0" blurRad="254000" dist="50800" dir="16200000">
              <a:srgbClr val="EF4444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83080"/>
            <a:ext cx="1097280" cy="1097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9050">
            <a:solidFill>
              <a:srgbClr val="FCA5A5"/>
            </a:solidFill>
          </a:ln>
          <a:effectLst>
            <a:outerShdw sx="100000" sy="100000" kx="0" ky="0" algn="bl" rotWithShape="0" blurRad="127000" dist="50800" dir="16200000">
              <a:srgbClr val="FCA5A5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NOVAMENTE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Tentar novamente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37744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886200" y="2468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A0910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46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0B1F5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097280"/>
            <a:ext cx="594360" cy="594360"/>
          </a:xfrm>
          <a:prstGeom prst="ellipse">
            <a:avLst/>
          </a:prstGeom>
          <a:solidFill>
            <a:srgbClr val="1D4ED8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2435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86868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para apagar dados tem exactamente a mesma cor, tamanho e posição do botão para guardar. Qual é o risco de UX que existe nesta escolha?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57200" y="210312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2185416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da consistência visual da aplicação</a:t>
            </a:r>
            <a:endParaRPr lang="en-US" sz="1500" dirty="0"/>
          </a:p>
        </p:txBody>
      </p:sp>
      <p:pic>
        <p:nvPicPr>
          <p:cNvPr id="13" name="Image 2" descr="preencoded.png">
            <a:hlinkClick r:id="rId5" tooltip="Opção A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03120"/>
            <a:ext cx="82296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7200" y="2633472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66928" y="2715768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5156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automática da carga cognitiva do utilizador</a:t>
            </a:r>
            <a:endParaRPr lang="en-US" sz="1500" dirty="0"/>
          </a:p>
        </p:txBody>
      </p:sp>
      <p:pic>
        <p:nvPicPr>
          <p:cNvPr id="17" name="Image 3" descr="preencoded.png">
            <a:hlinkClick r:id="rId7" tooltip="Opção B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33472"/>
            <a:ext cx="82296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3163824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66928" y="3246120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051560" y="31638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probabilidade de apagar dados por engano</a:t>
            </a:r>
            <a:endParaRPr lang="en-US" sz="1500" dirty="0"/>
          </a:p>
        </p:txBody>
      </p:sp>
      <p:pic>
        <p:nvPicPr>
          <p:cNvPr id="21" name="Image 4" descr="preencoded.png">
            <a:hlinkClick r:id="rId9" tooltip="Opção C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63824"/>
            <a:ext cx="8229600" cy="457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7200" y="3694176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E2A7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66928" y="3776472"/>
            <a:ext cx="292608" cy="292608"/>
          </a:xfrm>
          <a:prstGeom prst="ellipse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051560" y="36941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garantido da segurança dos dados</a:t>
            </a:r>
            <a:endParaRPr lang="en-US" sz="1500" dirty="0"/>
          </a:p>
        </p:txBody>
      </p:sp>
      <p:pic>
        <p:nvPicPr>
          <p:cNvPr id="25" name="Image 5" descr="preencoded.png">
            <a:hlinkClick r:id="rId11" tooltip="Opção D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94176"/>
            <a:ext cx="82296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240" y="4389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462272"/>
            <a:ext cx="182880" cy="182880"/>
          </a:xfrm>
          <a:prstGeom prst="rect">
            <a:avLst/>
          </a:prstGeom>
        </p:spPr>
      </p:pic>
      <p:pic>
        <p:nvPicPr>
          <p:cNvPr id="28" name="Image 7" descr="preencoded.png">
            <a:hlinkClick r:id="rId14" tooltip="VOLTAR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4389120"/>
            <a:ext cx="1280160" cy="3291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sx="100000" sy="100000" kx="0" ky="0" algn="bl" rotWithShape="0" blurRad="152400" dist="50800" dir="1620000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Maior probabilidade de apagar dados por engano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acção que não se desfaz facilmente deve destacar-se pela cor, pela posição, ou exigir confirmação. Sem essa diferença, o erro é só uma questão de tempo.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0E7A38">
              <a:alpha val="70000"/>
            </a:srgbClr>
          </a:solidFill>
          <a:ln w="38100">
            <a:solidFill>
              <a:srgbClr val="4ADE80"/>
            </a:solidFill>
            <a:prstDash val="solid"/>
          </a:ln>
          <a:effectLst>
            <a:outerShdw sx="100000" sy="100000" kx="0" ky="0" algn="bl" rotWithShape="0" blurRad="254000" dist="50800" dir="16200000">
              <a:srgbClr val="22C55E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828800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sx="100000" sy="100000" kx="0" ky="0" algn="bl" rotWithShape="0" blurRad="127000" dist="50800" dir="1620000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Concluir nível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182880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77240" cy="77724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CA5A5"/>
            </a:solidFill>
          </a:ln>
          <a:effectLst>
            <a:outerShdw sx="100000" sy="100000" kx="0" ky="0" algn="bl" rotWithShape="0" blurRad="152400" dist="50800" dir="16200000">
              <a:srgbClr val="EF4444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07008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54480" y="868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21031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2A091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17627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correcta é a C. Maior probabilidade de apagar dados por engano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acção que não se desfaz facilmente deve destacar-se pela cor, pela posição, ou exigir confirmação. Sem essa diferença, o erro é só uma questão de tempo.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7A1020">
              <a:alpha val="70000"/>
            </a:srgbClr>
          </a:solidFill>
          <a:ln w="38100">
            <a:solidFill>
              <a:srgbClr val="FF6B7A"/>
            </a:solidFill>
            <a:prstDash val="solid"/>
          </a:ln>
          <a:effectLst>
            <a:outerShdw sx="100000" sy="100000" kx="0" ky="0" algn="bl" rotWithShape="0" blurRad="254000" dist="50800" dir="16200000">
              <a:srgbClr val="EF4444">
                <a:alpha val="8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783080"/>
            <a:ext cx="1097280" cy="1097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3977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9050">
            <a:solidFill>
              <a:srgbClr val="FCA5A5"/>
            </a:solidFill>
          </a:ln>
          <a:effectLst>
            <a:outerShdw sx="100000" sy="100000" kx="0" ky="0" algn="bl" rotWithShape="0" blurRad="127000" dist="50800" dir="16200000">
              <a:srgbClr val="FCA5A5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NOVAMENTE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pic>
        <p:nvPicPr>
          <p:cNvPr id="14" name="Image 4" descr="preencoded.png">
            <a:hlinkClick r:id="rId7" tooltip="Tentar novamente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377440" cy="4572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685800"/>
            <a:ext cx="1005840" cy="1005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63040" y="1828800"/>
            <a:ext cx="6217920" cy="1005840"/>
          </a:xfrm>
          <a:custGeom>
            <a:avLst/>
            <a:gdLst/>
            <a:ahLst/>
            <a:cxnLst/>
            <a:rect l="l" t="t" r="r" b="b"/>
            <a:pathLst>
              <a:path w="6217920" h="1005840">
                <a:moveTo>
                  <a:pt x="0" y="502920"/>
                </a:moveTo>
                <a:lnTo>
                  <a:pt x="457200" y="0"/>
                </a:lnTo>
                <a:lnTo>
                  <a:pt x="5760720" y="0"/>
                </a:lnTo>
                <a:lnTo>
                  <a:pt x="6217920" y="502920"/>
                </a:lnTo>
                <a:lnTo>
                  <a:pt x="5760720" y="1005840"/>
                </a:lnTo>
                <a:lnTo>
                  <a:pt x="457200" y="1005840"/>
                </a:lnTo>
                <a:close/>
              </a:path>
            </a:pathLst>
          </a:custGeom>
          <a:solidFill>
            <a:srgbClr val="05122E"/>
          </a:solidFill>
          <a:ln w="31750">
            <a:solidFill>
              <a:srgbClr val="EF4444"/>
            </a:solidFill>
            <a:prstDash val="solid"/>
          </a:ln>
          <a:effectLst>
            <a:outerShdw sx="100000" sy="100000" kx="0" ky="0" algn="bl" rotWithShape="0" blurRad="203200" dist="50800" dir="16200000">
              <a:srgbClr val="EF4444">
                <a:alpha val="85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1463040" y="18288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CONCLUÍDO!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3886200" y="30175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A0910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Completaste as 4 perguntas do nível Difícil. Analisar e justificar bem é o que distingue quem entende de quem decorou!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28800" y="42062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334256"/>
            <a:ext cx="182880" cy="182880"/>
          </a:xfrm>
          <a:prstGeom prst="rect">
            <a:avLst/>
          </a:prstGeom>
        </p:spPr>
      </p:pic>
      <p:pic>
        <p:nvPicPr>
          <p:cNvPr id="11" name="Image 3" descr="preencoded.png">
            <a:hlinkClick r:id="rId6" tooltip="Início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206240"/>
            <a:ext cx="2286000" cy="4389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29200" y="42062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D6BFF"/>
          </a:solidFill>
          <a:ln w="19050">
            <a:solidFill>
              <a:srgbClr val="60A5FA"/>
            </a:solidFill>
          </a:ln>
          <a:effectLst>
            <a:outerShdw sx="100000" sy="100000" kx="0" ky="0" algn="bl" rotWithShape="0" blurRad="127000" dist="50800" dir="16200000">
              <a:srgbClr val="60A5FA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NÍVEL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334256"/>
            <a:ext cx="182880" cy="182880"/>
          </a:xfrm>
          <a:prstGeom prst="rect">
            <a:avLst/>
          </a:prstGeom>
        </p:spPr>
      </p:pic>
      <p:pic>
        <p:nvPicPr>
          <p:cNvPr id="14" name="Image 5" descr="preencoded.png">
            <a:hlinkClick r:id="rId9" tooltip="Repetir nível (pergunta 1)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4206240"/>
            <a:ext cx="2286000" cy="43891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95528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Master – TIC – Nível Difícil</dc:title>
  <dc:subject>PptxGenJS Presentation</dc:subject>
  <dc:creator>Grupo IG12A</dc:creator>
  <cp:lastModifiedBy>Grupo IG12A</cp:lastModifiedBy>
  <cp:revision>1</cp:revision>
  <dcterms:created xsi:type="dcterms:W3CDTF">2026-09-19T07:46:18Z</dcterms:created>
  <dcterms:modified xsi:type="dcterms:W3CDTF">2026-09-19T07:46:18Z</dcterms:modified>
</cp:coreProperties>
</file>